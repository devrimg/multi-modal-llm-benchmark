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3e7d4a97884a94" /><Relationship Type="http://schemas.openxmlformats.org/officeDocument/2006/relationships/extended-properties" Target="/docProps/app.xml" Id="R07a6aef2d9004b5e" /><Relationship Type="http://schemas.openxmlformats.org/officeDocument/2006/relationships/officeDocument" Target="/ppt/presentation.xml" Id="R11f8f611d019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2f04bbd374a02"/>
  </p:sldMasterIdLst>
  <p:notesMasterIdLst>
    <p:notesMasterId xmlns:r="http://schemas.openxmlformats.org/officeDocument/2006/relationships" r:id="Rdc605c49aa934e30"/>
  </p:notesMasterIdLst>
  <p:sldIdLst>
    <p:sldId xmlns:r="http://schemas.openxmlformats.org/officeDocument/2006/relationships" id="256" r:id="Refb5531197134865"/>
    <p:sldId xmlns:r="http://schemas.openxmlformats.org/officeDocument/2006/relationships" id="257" r:id="R7da7e69142894165"/>
    <p:sldId xmlns:r="http://schemas.openxmlformats.org/officeDocument/2006/relationships" id="258" r:id="Rda0952fc683448f3"/>
    <p:sldId xmlns:r="http://schemas.openxmlformats.org/officeDocument/2006/relationships" id="259" r:id="R3859a2d91e664de9"/>
    <p:sldId xmlns:r="http://schemas.openxmlformats.org/officeDocument/2006/relationships" id="260" r:id="Rb289e6882b1e4f45"/>
    <p:sldId xmlns:r="http://schemas.openxmlformats.org/officeDocument/2006/relationships" id="261" r:id="R2e5fa37a39804db4"/>
    <p:sldId xmlns:r="http://schemas.openxmlformats.org/officeDocument/2006/relationships" id="262" r:id="R4a3d5024f7274f2e"/>
    <p:sldId xmlns:r="http://schemas.openxmlformats.org/officeDocument/2006/relationships" id="263" r:id="R9f09d20b930040f2"/>
    <p:sldId xmlns:r="http://schemas.openxmlformats.org/officeDocument/2006/relationships" id="264" r:id="R6716bbf4deed4f68"/>
    <p:sldId xmlns:r="http://schemas.openxmlformats.org/officeDocument/2006/relationships" id="265" r:id="Rebebd8e99e1148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2a4fbc491456e" /><Relationship Type="http://schemas.openxmlformats.org/officeDocument/2006/relationships/slideMaster" Target="/ppt/slideMasters/slideMaster1.xml" Id="Ra742f04bbd374a02" /><Relationship Type="http://schemas.openxmlformats.org/officeDocument/2006/relationships/notesMaster" Target="/ppt/notesMasters/notesMaster1.xml" Id="Rdc605c49aa934e30" /><Relationship Type="http://schemas.openxmlformats.org/officeDocument/2006/relationships/presProps" Target="/ppt/presProps.xml" Id="R273c284f01c041f1" /><Relationship Type="http://schemas.openxmlformats.org/officeDocument/2006/relationships/viewProps" Target="/ppt/viewProps.xml" Id="R1476ad0ba99a4f7b" /><Relationship Type="http://schemas.openxmlformats.org/officeDocument/2006/relationships/tableStyles" Target="/ppt/tableStyles.xml" Id="Rbd380324634944c2" /><Relationship Type="http://schemas.openxmlformats.org/officeDocument/2006/relationships/slide" Target="/ppt/slides/slide1.xml" Id="Refb5531197134865" /><Relationship Type="http://schemas.openxmlformats.org/officeDocument/2006/relationships/slide" Target="/ppt/slides/slide2.xml" Id="R7da7e69142894165" /><Relationship Type="http://schemas.openxmlformats.org/officeDocument/2006/relationships/slide" Target="/ppt/slides/slide3.xml" Id="Rda0952fc683448f3" /><Relationship Type="http://schemas.openxmlformats.org/officeDocument/2006/relationships/slide" Target="/ppt/slides/slide4.xml" Id="R3859a2d91e664de9" /><Relationship Type="http://schemas.openxmlformats.org/officeDocument/2006/relationships/slide" Target="/ppt/slides/slide5.xml" Id="Rb289e6882b1e4f45" /><Relationship Type="http://schemas.openxmlformats.org/officeDocument/2006/relationships/slide" Target="/ppt/slides/slide6.xml" Id="R2e5fa37a39804db4" /><Relationship Type="http://schemas.openxmlformats.org/officeDocument/2006/relationships/slide" Target="/ppt/slides/slide7.xml" Id="R4a3d5024f7274f2e" /><Relationship Type="http://schemas.openxmlformats.org/officeDocument/2006/relationships/slide" Target="/ppt/slides/slide8.xml" Id="R9f09d20b930040f2" /><Relationship Type="http://schemas.openxmlformats.org/officeDocument/2006/relationships/slide" Target="/ppt/slides/slide9.xml" Id="R6716bbf4deed4f68" /><Relationship Type="http://schemas.openxmlformats.org/officeDocument/2006/relationships/slide" Target="/ppt/slides/slide10.xml" Id="Rebebd8e99e11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3d1a17363c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f64de48254811" /><Relationship Type="http://schemas.openxmlformats.org/officeDocument/2006/relationships/notesMaster" Target="/ppt/notesMasters/notesMaster1.xml" Id="Rd80023be78b246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4b3021c76400e" /><Relationship Type="http://schemas.openxmlformats.org/officeDocument/2006/relationships/notesMaster" Target="/ppt/notesMasters/notesMaster1.xml" Id="R7015ba66ecc0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9a5a965c8946bc" /><Relationship Type="http://schemas.openxmlformats.org/officeDocument/2006/relationships/notesMaster" Target="/ppt/notesMasters/notesMaster1.xml" Id="R3d4231bbf538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b0978e6a04059" /><Relationship Type="http://schemas.openxmlformats.org/officeDocument/2006/relationships/notesMaster" Target="/ppt/notesMasters/notesMaster1.xml" Id="Rc8f379ecf0f5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dbde1329e540a5" /><Relationship Type="http://schemas.openxmlformats.org/officeDocument/2006/relationships/notesMaster" Target="/ppt/notesMasters/notesMaster1.xml" Id="R7baeb3870bfe46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be20466ce54a4c" /><Relationship Type="http://schemas.openxmlformats.org/officeDocument/2006/relationships/notesMaster" Target="/ppt/notesMasters/notesMaster1.xml" Id="Rafead24f86bf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fe16f4fc84189" /><Relationship Type="http://schemas.openxmlformats.org/officeDocument/2006/relationships/notesMaster" Target="/ppt/notesMasters/notesMaster1.xml" Id="R678047c6e095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77f4cebdd04d9a" /><Relationship Type="http://schemas.openxmlformats.org/officeDocument/2006/relationships/notesMaster" Target="/ppt/notesMasters/notesMaster1.xml" Id="R3621ca23895d4e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cf4f2e73894825" /><Relationship Type="http://schemas.openxmlformats.org/officeDocument/2006/relationships/notesMaster" Target="/ppt/notesMasters/notesMaster1.xml" Id="Ra1b0b726bf7f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bda869e9e54877" /><Relationship Type="http://schemas.openxmlformats.org/officeDocument/2006/relationships/notesMaster" Target="/ppt/notesMasters/notesMaster1.xml" Id="R88575bd6467b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bdeb70db145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144057bdb480a" /><Relationship Type="http://schemas.openxmlformats.org/officeDocument/2006/relationships/slideLayout" Target="/ppt/slideLayouts/slideLayout1.xml" Id="Rbc87ede82cb644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87ede82cb644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0692903bf4521" /><Relationship Type="http://schemas.openxmlformats.org/officeDocument/2006/relationships/notesSlide" Target="/ppt/notesSlides/notesSlide1.xml" Id="R2eff52d4fbbf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ebeee04a94147" /><Relationship Type="http://schemas.openxmlformats.org/officeDocument/2006/relationships/notesSlide" Target="/ppt/notesSlides/notesSlide2.xml" Id="R4f486e67b8444b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cfa45aeb949a1" /><Relationship Type="http://schemas.openxmlformats.org/officeDocument/2006/relationships/notesSlide" Target="/ppt/notesSlides/notesSlide3.xml" Id="R16a414eeccbc4b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39568a6874b2f" /><Relationship Type="http://schemas.openxmlformats.org/officeDocument/2006/relationships/notesSlide" Target="/ppt/notesSlides/notesSlide4.xml" Id="R5335c9272b64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a2871a5784438" /><Relationship Type="http://schemas.openxmlformats.org/officeDocument/2006/relationships/notesSlide" Target="/ppt/notesSlides/notesSlide5.xml" Id="R83d3e4079f2743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138978bef4c7a" /><Relationship Type="http://schemas.openxmlformats.org/officeDocument/2006/relationships/notesSlide" Target="/ppt/notesSlides/notesSlide6.xml" Id="R21e1a97c80774b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89c7731c345a7" /><Relationship Type="http://schemas.openxmlformats.org/officeDocument/2006/relationships/notesSlide" Target="/ppt/notesSlides/notesSlide7.xml" Id="R3a4b5395524948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3803167634db1" /><Relationship Type="http://schemas.openxmlformats.org/officeDocument/2006/relationships/notesSlide" Target="/ppt/notesSlides/notesSlide8.xml" Id="Raae39292a378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a24441b434b40" /><Relationship Type="http://schemas.openxmlformats.org/officeDocument/2006/relationships/notesSlide" Target="/ppt/notesSlides/notesSlide9.xml" Id="R8944791de1ff4a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5412fe3b94dee" /><Relationship Type="http://schemas.openxmlformats.org/officeDocument/2006/relationships/notesSlide" Target="/ppt/notesSlides/notesSlide10.xml" Id="R0169e3b1684443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8A750-4EAF-46B5-9D45-012C2590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1E2E1-4BCB-4096-8A9D-DCC3D60A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C78E5-EBA5-4804-A436-F81EA50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5A50F-4D22-4F53-95C8-DD2356E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38FC9-8CA7-47E4-9AC8-FE42890A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MaaS and ModelArts LLM Benchmark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5F160-8BE9-4A2A-9B44-FDA4C97D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900F-3B60-40E5-91B8-5689860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605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22F2C-3D97-4647-BFD5-45049C2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9D0BC-C94A-40F6-9315-076FE0E4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280"/>
                </a:solidFill>
              </a:defRPr>
            </a:pPr>
            <a:r>
              <a:t>Huawei internal usage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E45F3-8E7C-4B12-BA28-246F1D1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810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11827"/>
                </a:solidFill>
              </a:defRPr>
            </a:pPr>
            <a:r>
              <a:t>Performance, latency, and reliability view across benchmark scenarios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44E9B-B18E-4B53-B795-B7D1A9B2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t>Source artifacts: benchmarks/HWC MaaS and benchmarks/ModelArts. DeepSeek TP16 is treated as DP1 across two nodes per deployment note.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7A1C9-F447-46D7-B2FC-CD3E548E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4F5BC-1B2E-411D-935D-BEFD0CBB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07EE4-1A54-49D7-8073-75D80021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Normalized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00812-2A64-4C03-B5BB-5D880877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379DC-B751-4283-A8FE-DFC69B37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41 ModelArts / 10 MaaS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86F53-A979-4280-A02D-C884E3D3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3812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68F9A-457C-4F14-BD8A-2EA9BE3C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5037D-A183-442C-836A-E4BEA5B4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9090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Requests represented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8A27FC-2346-4FFB-9F30-B930289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2,559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2A7A0-EBA7-4EF3-8138-E582F58E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0527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Raw and summary files normalized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A4991-4A3E-4023-83F0-BC94929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23812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B89BE-78C7-435B-BCE8-59366A86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E93CE-5674-435B-B602-EF36939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Peak aggregate tok/s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9D1E7-3341-4328-8B86-4290F25B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717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FF867-3EB0-4264-8E76-4FE0E71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0527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tubitak-gpt-90conc, c90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D8423-CFBC-4C5D-8D13-3E0C5411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74ADA-C0B9-437F-BA46-559A07D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226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11827"/>
                </a:solidFill>
              </a:defRPr>
            </a:pPr>
            <a:r>
              <a:t>Compare throughput and tail latency across platform, model, concurrency, DP, and token profile.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86A3D-582D-40FA-9102-DC609374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1DF26-FF3B-479D-A9E8-002A6B0B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26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11827"/>
                </a:solidFill>
              </a:defRPr>
            </a:pPr>
            <a:r>
              <a:t>Keep error-prone runs visible rather than filtering them out of the narrative.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10390-4709-4976-96D0-AE154C8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95482-15DB-4934-86D4-8C5E7EF7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52900"/>
            <a:ext cx="2266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11827"/>
                </a:solidFill>
              </a:defRPr>
            </a:pPr>
            <a:r>
              <a:t>Provide an appendix matrix with scenario-level input/output tokens and request counts.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73E0E0-5A5D-47EA-99D3-A6151A7F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533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B7280"/>
                </a:solidFill>
              </a:defRPr>
            </a:pPr>
            <a:r>
              <a:t>Generated from normalized_benchmark_runs.csv</a:t>
            </a:r>
          </a:p>
        </p:txBody>
      </p:sp>
    </p:spTree>
    <p:extLst>
      <p:ext uri="{BB962C8B-B14F-4D97-AF65-F5344CB8AC3E}">
        <p14:creationId xmlns:p14="http://schemas.microsoft.com/office/powerpoint/2010/main" val="12596376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7B8649-DBF8-4B60-A47B-62BD9697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0A3FD-6706-4CEE-ACB8-79854E4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8F1B8-24D7-476E-950A-4846C6C6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A23F-2CFE-4478-B457-515B05CB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544EE-88A2-4D51-8ABB-6AF84558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B266A-0B9B-4860-8929-E4D528A9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6D69-24F8-4D14-B8B3-979C1A5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2571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6BAB2-EED8-4B6D-8FED-87BBDE37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2BDD7-F7D9-4951-B81D-6B8F465D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ACBCF-CF46-4D7D-8669-554F920D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51 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B4CC7-81D5-4A96-BF4D-4CF8CAA0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228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2,559 requests represented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4394E-E3F3-4DB3-9965-B16232F9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2571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82D99-730D-4DE6-A1B2-C18FA94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6005-098B-44BE-B7C8-B0D5340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14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Throughput leader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C21DB-75D4-41C7-8F47-CD308113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621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717 tok/s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5820B-8CAF-4103-998D-6AB7731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28825"/>
            <a:ext cx="2228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tubitak-gpt-90conc at c90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43D4B-C6FD-4BCD-9FA2-D5FDBE62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62050"/>
            <a:ext cx="2571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61AA8-AD75-4736-BE63-FA1407C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62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874AD-D90F-40C9-9D68-2FA31DB3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4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Average error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16DF2-CAA3-4EDF-A700-188F8C76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13.4%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4EE59-90AA-48E5-818F-DB4A9950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28825"/>
            <a:ext cx="2228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Mean across normalized runs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DFE5A-CE7E-425C-836E-FD5A1A2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62050"/>
            <a:ext cx="25717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BF2BC-A5ED-489D-853B-51C5F9F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620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17397-FF3B-4DC2-B14A-542CA4F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144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Worst P95 latency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22D22-4DC4-4B47-9594-069FA74A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2228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288s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13BC6-7FAE-4895-A8E6-E6C1321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28825"/>
            <a:ext cx="2228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GLM51-W4A8, c8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4A321-9909-4404-A3EC-83644A69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E0612B-C6E2-4779-9AC6-5E17C3F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11827"/>
                </a:solidFill>
              </a:defRPr>
            </a:pPr>
            <a:r>
              <a:t>ModelArts carries the highest aggregate throughput scenarios: tubitak-gpt-90conc reaches 717 output tok/s at c90.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B6295-1F7D-4D6F-920A-F7C036F9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7F0429-D7D4-41BA-80AB-271E58B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11827"/>
                </a:solidFill>
              </a:defRPr>
            </a:pPr>
            <a:r>
              <a:t>Concurrency alone is not the performance story: several high-concurrency runs trade throughput for materially higher P95 latency.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DD41E6-4CD9-4BE1-A40F-0A9488FA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0FF90-648E-4D27-A839-C5FEF29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11827"/>
                </a:solidFill>
              </a:defRPr>
            </a:pPr>
            <a:r>
              <a:t>Reliability needs explicit governance: deepseek-v4-flash / 1024 in / 2048 out shows 100% error rate in the normalized set.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2F969C-E87A-47BC-8041-942B79F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463C6-8CCF-4097-9820-8A9D9E1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11827"/>
                </a:solidFill>
              </a:defRPr>
            </a:pPr>
            <a:r>
              <a:t>MaaS results include stable 256-token baselines and failed/rate-limited deepseek-v4-flash runs; both are retained in the report for operational context.</a:t>
            </a:r>
          </a:p>
        </p:txBody>
      </p:sp>
    </p:spTree>
    <p:extLst>
      <p:ext uri="{BB962C8B-B14F-4D97-AF65-F5344CB8AC3E}">
        <p14:creationId xmlns:p14="http://schemas.microsoft.com/office/powerpoint/2010/main" val="1029623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711D9-EFC2-4FFE-8D86-0D8ED304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ABE36-8146-4BB7-929C-10C1DAD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13F7F-0391-4429-86F5-125174CC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F205-FF5F-46F6-B109-3085AC04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205C0-056A-45FB-9131-1E2A0EB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Run Inventory and Deployment Topology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DF7B-DB4C-4112-AFFB-94C04FDF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FC20A-328D-490C-8AC6-D34CA73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24765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4D1E2-15AB-40BD-85F6-C25986EC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F96D5-E159-480B-834F-2E315E2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213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Platform/model combinations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743EB-FB73-4702-B61A-1E8F6EE0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90DA2-4854-4840-9B87-916C11B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MaaS and ModelArts grouped by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E6707-6A75-45D0-A7E3-3EAD526A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43000"/>
            <a:ext cx="24765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4E697-124E-4952-9DD7-177B34E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43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D1655-970C-4F36-B53C-33BED6B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95400"/>
            <a:ext cx="213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Max concurrency observed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E646A-EA97-4811-B534-485ECCB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430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c100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58950-9E52-4DDE-9935-D01D68A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9775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Derived from filename or request overlap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9C060-5F3D-4141-AF2A-E3242D9B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43000"/>
            <a:ext cx="24765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D2205-AFA7-4D8A-8F90-1C4D67E5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43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83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22FA4-C744-4AE0-9E88-079F7D12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95400"/>
            <a:ext cx="213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Runs with DP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927F5-0BDA-489A-B000-9FA745E1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37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16A93-EA29-41DB-931A-8B43CA4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ModelArts filenames and summary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C6021-C649-46A2-87C7-B4B9E2B5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43000"/>
            <a:ext cx="24765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210D8-54AF-4C82-A108-37817AD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43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1D66F-157F-456A-9DE3-42C014D4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95400"/>
            <a:ext cx="213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DeepSeek TP16 topology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33D74-E093-49C7-9A1B-14D937F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430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DP1 / 2 nodes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EB099-315C-4966-B2FA-CC39ABAE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9775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TP16, c10 and c32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D62A7-1FE9-4B77-B248-9F98043A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0572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F8D0A-68AF-4E31-AC93-F3E58FD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Normalization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0C947-1104-4F53-9A83-17260B3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B7280"/>
                </a:solidFill>
              </a:defRPr>
            </a:pPr>
            <a:r>
              <a:t>MaaS JSON summaries are consumed directly. ModelArts raw CSVs are aggregated from request rows; summary CSVs take precedence where they encode intended scenario configuration. Missing filename concurrency is inferred from overlapping request windows.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87A0F-ECC5-4EB7-9A8D-FEC88BA0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572750" cy="19812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AF5BF4-0C5A-479B-BC23-5D4327C5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22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DeepSeek R1 TP16 rows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DDB3C-DE04-47DB-8BE1-18C931CF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2DC9C-87DA-4D64-B204-B65E68B0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59685-31DE-4962-8CDE-69C2D82B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031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Scenario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FFB9E-1A4F-4BD7-864F-68CA592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DP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304898-4168-456C-84FF-F84AB3F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494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74BD0D-A734-4B51-8011-5937AAD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Nodes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E2812D-2AC9-4973-BD75-47515B2A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56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Conc.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83930E-B73A-4904-B971-F91F270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Req.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0DAAF-869B-4F8D-88D6-E30CA23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19" y="4600575"/>
            <a:ext cx="1183481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In/Out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3998F8-AFDB-43C6-99A1-94AD5B2E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deepseek-r1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BD041-1BF8-4BAA-82EE-ECF204B2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031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10conc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05ACE-558E-4510-8DAE-42CB513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1B2518-CF05-4616-A27E-94EB78C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494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92960A-7AFA-4AA0-9800-4BEA7AE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B1680E-A0F4-4E97-B860-B6003B0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56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0FE6E9-A1EA-46A6-B6E4-4F336FE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97ECAE-8FAD-495C-840B-D2302D9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19" y="48387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1,024/2,173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439FBB-B7BD-4A56-84C1-37910D6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022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C4D890-CBBA-4C80-AFFB-C4A01AE8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deepseek-r1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C073EB-659D-4436-AF7A-51DB0EDA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031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daily_chat_1kinput_512output_500_req_32conc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A9DFF1-2D4B-4B3E-BBD9-C14F73D7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47B48D-9CEC-42E6-98FE-1CDE0D65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494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023810-AA21-4F06-BFDC-3D6F73A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DE7FB0-BE51-4F34-B662-1C44A558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56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c32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C75989-9805-45CD-AA6A-252F2C5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688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500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1553E4-9186-471E-B409-5CB7CA8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419" y="5448300"/>
            <a:ext cx="1183481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1,000/512</a:t>
            </a:r>
          </a:p>
        </p:txBody>
      </p:sp>
    </p:spTree>
    <p:extLst>
      <p:ext uri="{BB962C8B-B14F-4D97-AF65-F5344CB8AC3E}">
        <p14:creationId xmlns:p14="http://schemas.microsoft.com/office/powerpoint/2010/main" val="16627781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212C1-C591-4FBC-B867-EC803329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44602-5932-46A2-82CF-8EFBFFF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26740-A3FE-41F9-935B-0E44C89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DDCDA-6EBA-4B7B-AB35-BE6CA579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BB46F-0728-47DA-9F17-691350C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Throughput: ModelArts Leads Aggregate Output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B80B9-1B2D-456E-A90A-DB5BDD9D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928C4-5579-4F72-BE99-FD353E9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53340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D3DE3-EF04-4A15-BB59-EFD0332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Top aggregate throughput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682CE-24E0-4A69-8EA4-2D746B0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6CCD2-9A87-4790-9D44-D6C85028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6EFB5-2201-44E6-B0C0-8B0361A5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69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EED0D-402D-4EC0-AD3F-0C302113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269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179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2918-BC30-491D-ACBF-0062766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2178B-D95B-42A2-AE3D-6552F823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359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38C05-7A8A-4740-A5EA-3E7E2B45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206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81F27-879E-4C0A-AA48-8ABECFD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706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538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D0634-D174-4900-9197-4B7268D3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15656-53B3-4737-B920-9149EE0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717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7FE1E-E513-4669-8008-242256F8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tubitak-gpt-90conc c90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F4211-C1EE-4AB8-A9EE-831D347A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85925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3744B-0A61-490B-ABEE-1C444770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668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717 tok/s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608C5-A8F4-4C1A-BCA2-779F565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51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tubitak-gpt-100conc-8err c100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45E47-4E3F-470A-97A3-3E4EAEE4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4658"/>
            <a:ext cx="3140041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DBB53-CFF5-4CC6-8070-290BE3B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241" y="21156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706 tok/s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5D7DE-AC8B-4075-B9B3-CDEB85F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38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qwen3-vl-30b c16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63703-8D39-4927-9D71-6CA11E6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83392"/>
            <a:ext cx="3112714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DC2CB-ED0E-4593-98BF-F70AB4F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14" y="25643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700 tok/s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28A18-4803-4027-8CD9-7CB54D0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26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gpt-oss-120b c64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2CC2F-BA0D-4971-9524-10FE9C4E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32125"/>
            <a:ext cx="2672924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0637B-0B39-4F96-BA42-48F65757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124" y="30130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601 tok/s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853C8-25B6-4C8F-BF0E-FDA32820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13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deepseek-r1 c32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50650-A57A-4DE6-8185-FA54856C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0858"/>
            <a:ext cx="2526723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B6FBA2-F811-4881-BB48-F79B6EC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923" y="34618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568 tok/s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DCE01-5062-4071-BB99-0186C283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00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qwen35 c16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440E93-8C43-49E0-8DC8-425D8DA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9592"/>
            <a:ext cx="2051990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E85D9E-C770-4772-BD64-B8050176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190" y="39105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461 tok/s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21C4D9-3351-4A9A-8A05-B450285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88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qwen35 c16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BD8088-6AA9-45FA-9B5A-59A9B071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78325"/>
            <a:ext cx="2007306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82158-DE1E-44AC-B8BB-118EB927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506" y="43592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451 tok/s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33CB8-FC13-4D73-B3FA-19A55F7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75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qwen35 c16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DE0C9-5C8D-4AE1-B1C7-1B627181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27058"/>
            <a:ext cx="1610921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CB75FA-6A69-4367-9F09-39DD8959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121" y="48080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362 tok/s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334DAC-F399-4DAF-B2D9-A0684A0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62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deepseek-r1 c10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8912D4-6A08-4C40-A024-57939813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75792"/>
            <a:ext cx="1270368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112FCF-9558-4606-B0E4-55279464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568" y="52567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286 tok/s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87B52B-D339-4BA9-AA57-D9A0BFB0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3340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38E566-4390-4551-B358-D5CB8BC3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499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Throughput scaling by concurrency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71CAC-0D91-4DA6-A059-3BFE7429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4991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Output tokens per second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7E04DB-46E6-4C59-BA96-9380A014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5141E3-C828-42BD-AFE4-A2587BE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1.0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0D48E4-C7B5-4DCF-9439-00B91CC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19375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4077FA-CF6D-4A96-925E-0787DC7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B16A73-7A69-47E8-93E7-5C039019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FBFB30-E10C-4E0F-B9FB-8C9402F5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9CDDF2-4111-4DA3-9DFA-83CE8C7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05325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830D30-DA90-4B1D-87B5-1F26EAD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438437-F7D8-4D56-B2A9-694A0876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4830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015CF2-27F3-49BC-8DDD-30BD165F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A10BCE-3971-47E7-8E26-F08E0BC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638800"/>
            <a:ext cx="762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Concurrency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301A04-0145-442C-B50B-98DD84B6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5334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7E5E22-9B4A-4CF1-8777-30ECA40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103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Peak observed: ModelArts tubitak-gpt-90conc at c90, 1,024/842 tokens, 717 tok/s.</a:t>
            </a:r>
          </a:p>
        </p:txBody>
      </p:sp>
    </p:spTree>
    <p:extLst>
      <p:ext uri="{BB962C8B-B14F-4D97-AF65-F5344CB8AC3E}">
        <p14:creationId xmlns:p14="http://schemas.microsoft.com/office/powerpoint/2010/main" val="952416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B60DC-0244-4F6A-9449-B416A10A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B503D-4D60-4D95-9C58-510E50BE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47563-569C-49F2-85A9-663F02B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B03B6-0534-441A-AEEF-35BF7CE2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B4FC6-BC0C-4632-A70C-0C7EA5F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Tail Latency: High Concurrency Needs Scenario-Level Guardrails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E8340-B71F-45DC-97F7-37906FD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C257D-A444-4EA3-8C3C-FBE6E83B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53340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C0642-707E-4EB4-8B1F-1E519463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Highest P95 latency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50494-1756-4039-BFFE-EC6B7A1B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4D475-CA6C-4B77-80D6-49457AFC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38C12-CEDA-4804-A215-31689A20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69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BE3BB-C03A-4BB9-BBE1-014728E8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269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B06E6-F9F8-41AB-B1B4-21DC6D4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CE2BF-2507-4561-ADC8-1F89499C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144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F278-E8C4-4436-98AB-066FBDB3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206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6CEE6-6F25-4E31-AAB4-2E925254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706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216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FF478-03BA-40D8-A1A3-D7F315A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61614-2C91-4F3E-8135-27D85830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288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85B2F-E5D8-4F2B-9988-8760329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GLM51-W4A8 c8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94A15-D636-4163-AEB4-4C0ADFD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85925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1E739-C1AD-4E78-AF68-23204600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668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288s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1C002-DB86-4087-83F6-BB201B7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51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qwen3.5 c4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0DE2DF-F84A-4C0D-8304-71D45D7A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4658"/>
            <a:ext cx="2445064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C7B04-0F9C-433B-B38D-DBE4F0E3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64" y="21156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221s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0FF28-8E3B-43F0-870E-77B006B9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38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qwen35 c4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C5BDC-E6C4-4A02-932E-E0DE8803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83392"/>
            <a:ext cx="2445063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87F00-02BD-4887-B357-2BCB23DE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63" y="25643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221s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733A8-2715-4924-9C7D-62363B04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26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qwen35 c16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B6621-1C98-400C-A2A4-D1E8D818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32125"/>
            <a:ext cx="1392899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E74CF-8EAD-4458-9D7E-F8A27608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099" y="30130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126s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4BCA8-8ABE-46DA-88EE-A3435F9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13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qwen3.5 c16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6F84B-C864-41E5-AA0C-46A7107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0858"/>
            <a:ext cx="139289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7BE50-0330-4D3C-A5E5-7B4EF2A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095" y="34618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126s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1D38A-6686-4293-B38C-F9AF6754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00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tubitak-gpt-100conc-8err c100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A5267-1408-4FD7-B345-2DD5E381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9592"/>
            <a:ext cx="1317409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4B2FF-5833-4A60-9092-C3B8163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609" y="39105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119s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D90D72-4FE0-4744-885F-92A475A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88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deepseek-r1 c10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269F14-77B9-4945-AA4E-906AC361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78325"/>
            <a:ext cx="1266321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615021-06C3-41F6-AA75-D311C319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521" y="43592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114s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3F4F6C-FE49-4F63-BF94-A76101D0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75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deepseek-v4-flash c1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2EA53D-A120-4DCD-95C4-81B8A549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27058"/>
            <a:ext cx="1240888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5D8C95-EB43-4962-BA5E-26F21D1D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088" y="48080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112s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A3524B-92EC-4697-8B05-0E268228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62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tubitak-gpt-90conc c90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0C4731-D687-4F6A-9185-E2C71BF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75792"/>
            <a:ext cx="122394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B76D9F-4E6C-4C86-BA29-AC9AD976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45" y="52567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111s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F29702-E19C-4A4B-8717-2262285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3340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0AE56C-A3B2-4CDC-ADBC-48684CB5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95400"/>
            <a:ext cx="499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P95 latency scaling by concurrency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E4F42C-8B87-4E49-BA6D-EAEA4E9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4991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Seconds; lower is better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528933-5171-4907-AD19-CB105BE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D1F64C-7336-45FA-980C-53657A37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972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112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E8A89-DA5F-43FE-89E1-6F00DF54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19375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4E4C8C-591A-4BC3-A167-A09D3EB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84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9306DB-A698-4CA6-B57E-B8396877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64510A-A398-4E5F-88BB-9FA2F64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56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08F6B1-7414-458E-AB1A-F15283ED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05325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AFAD4C-7705-4346-BE16-42D415A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28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B067CE-1A44-4127-9222-5843C48B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4830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EDB704-C87F-46A3-B9E4-C0C87565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400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43CAFB-6C8D-4B0A-BDC9-909CDC05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1085850" cy="3771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000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CA23AB-8D58-4DE4-8043-793590F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48165"/>
            <a:ext cx="2171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9D6579-7135-4F1D-ADC3-0473E404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FB0D9D-DEFC-43CC-A209-793AACC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1006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DAE1C2-1A07-42D9-A9AB-7D02CCFF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09964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6F63E9-3710-4F9C-A170-D39DDD9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76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772B36-9506-422F-99D8-957E751D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64782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MaaS | deepseek-v4-flash | 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AEDE25-F01F-4117-93E3-9E20E70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48199"/>
            <a:ext cx="361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98E0C5-4433-4582-9F2F-028A3A75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1668"/>
            <a:ext cx="723900" cy="276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CA3451-9CA8-49CB-A31D-6DADC62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48132"/>
            <a:ext cx="2171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8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A301ED-32BA-4A74-AE89-03FD2E6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099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09DE95-FF6A-4105-8D7F-70313631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3568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1599FD-BB44-4BCC-A717-50B0B0F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10032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D4EA36-90FF-442C-8514-21A72AD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09964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65E60B-6AAC-4D0E-AA9F-32D066A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05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A673E7-1C4B-4C3B-A276-1FBDF02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7642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MaaS | deepseek-v4-flash | 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49272C-AC97-4757-8B66-2DF65D4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638800"/>
            <a:ext cx="7620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Concurrency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5D2BE2-41F8-4A6D-B409-728C2E8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5334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F01477-5D24-4D83-8605-B259FA4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103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Worst observed tail: ModelArts GLM51-W4A8, c8, P95 288s with 0.0% errors.</a:t>
            </a:r>
          </a:p>
        </p:txBody>
      </p:sp>
    </p:spTree>
    <p:extLst>
      <p:ext uri="{BB962C8B-B14F-4D97-AF65-F5344CB8AC3E}">
        <p14:creationId xmlns:p14="http://schemas.microsoft.com/office/powerpoint/2010/main" val="1640718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B1B1F-BFF6-49CD-A436-5B8B0C2E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8B4CA-3CE3-4AFF-9A84-1975469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6FEDE-9E2A-4629-B30D-CD429201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B5946-C55B-407A-AAC4-67D3384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023A2-7196-45E6-8838-F2E5B7A1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Reliability: Error Runs Stay in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76C46-5651-4BD4-9E3E-04FB28D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2F9D-E5E1-4A8D-AFB3-8FF2626C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53340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182EA-6533-435D-8B47-67E9C4E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99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Highest error-rate 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02A51-ED1F-499D-BFF5-2529D6D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C1209-0B0D-421A-B252-C64356D5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ABA4F-8C99-4216-933E-C9462F48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769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E6433-74AB-419B-82E1-58171C6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269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A6AD4-B9E8-4809-AFF0-9C5F4C0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EAA5F-66AF-4027-90AD-D67B5BAD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64657-4F22-4F4D-9A8C-C8B4927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206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9ED4B-3016-4028-895F-ABE3837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706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CF35C-7D27-4B3D-8250-718C4D6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57350"/>
            <a:ext cx="9525" cy="403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27EBE-12D0-4ED4-BAA6-842A676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72452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7FA1F-784E-4B48-8263-2DE6939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27966-0725-40D0-BE2F-F082FFC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85925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7CBD3-19E9-40CC-85C0-D254F34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668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6495F-D180-4ED7-A93F-2EB739C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251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5EA32-140F-435C-B384-C741E77C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4658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E2D7-C4D1-470F-977D-A375927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156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AE9CE-C35C-4116-8822-AA2D080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38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qwen3-32b c4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25134-77EF-474E-BB16-48C68BB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83392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6F3D3-3AA7-4526-8868-E79C1DD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643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5D74F-FFE8-4B59-AFCF-126B9035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26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6186C-E7F9-41B5-B3E9-A4A2E8C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32125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FBA3D-0EAD-4627-A153-48189331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130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DD9D3-1BD2-4A4A-B82C-DEAC60B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13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C16E4-037C-4E50-93D4-21E0316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0858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3206A-CB55-471F-86CB-C7956AC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618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F101D-B533-4110-BD8C-86C89777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00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A3F700-26EA-4F56-BD6F-FB5B0F95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9592"/>
            <a:ext cx="31908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AA29FE-0F76-472C-9A13-E17D5BC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105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A62DBC-701B-4955-A0B1-BE9BD0B0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88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298119-146E-47F2-A58C-EB28A4BA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78325"/>
            <a:ext cx="191452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1DDDF-8658-41BB-9299-7BC06FD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592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60%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86B58A-9522-498F-9B90-A404CB6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753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MaaS deepseek-v4-flash c2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A45A5A-B98B-41EF-B583-2BBB6C54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27058"/>
            <a:ext cx="638175" cy="20193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1E73B1-7746-4AE3-B6A1-2E5672C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0800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F12A8-3B5F-451F-9A39-BC26FD6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6267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ModelArts deepseek-r1 c10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4B5EC-F923-493C-AB39-31A1255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75792"/>
            <a:ext cx="63818" cy="201930"/>
          </a:xfrm>
          <a:prstGeom xmlns:a="http://schemas.openxmlformats.org/drawingml/2006/main" prst="roundRect">
            <a:avLst>
              <a:gd name="adj" fmla="val 29851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3E352E-9618-4040-A96B-272996E1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18" y="5256742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2.0%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67218B-E9F0-4E5F-84FD-362E468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3340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6DDFF9-24D4-443F-8634-1C0E4AF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716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Reliability split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3E5131-44A1-4171-9697-159A5BC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t>41 zero-error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63612A-3252-45EE-B062-4B8388E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</a:defRPr>
            </a:pPr>
            <a:r>
              <a:t>runs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34899C-38CB-4912-B4D3-2FAF5B9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B7280"/>
                </a:solidFill>
              </a:defRPr>
            </a:pPr>
            <a:r>
              <a:t>10 runs with at least one failed request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DABF74-8945-4099-B3D8-4F55821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334000" cy="31813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403EC8-CE7C-492C-A6A0-9ABDBC5F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99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Error-bearing runs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D019C0-5620-415F-AA8F-08E887F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CF64C9-B815-470A-8D23-F963624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B7562F-4522-4AAD-8056-D7A4B857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8C8DDF-191A-4937-B980-907FA03C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Scenario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E6B77C-5F58-4E40-BC2E-20051F58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Conc.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E8D719-C266-4854-9289-40C362A7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Req.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152926-AB01-4E7C-B204-50A43A0A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Errors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17DA21-B15D-403D-81FA-B9A11128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322897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Err 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96B433-32DE-4FD6-BD83-4636562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60D84F-69C9-4F4E-B604-46168D3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B7594E-78F8-43D8-A3E4-E147522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E33A11-EDFA-4AAA-963D-48F85ED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c1.0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A6BBE1-4D43-43E9-9539-395EADFD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ABE366-AB25-460A-ADD2-73D89E0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5B8B51-B863-4761-A9EC-78B8E9C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3467100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AB324F-9D08-4F8F-BFBC-3BF0D69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5571"/>
            <a:ext cx="4991100" cy="34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A2FD3A-938C-4476-A23C-16FB85F0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3A3621-7A0B-4E1B-9AE4-C9F4905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DCB7D5-4FEF-4640-A4C2-4A559E6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826615-36B0-4C6F-B695-3309670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CCED54-6AEF-4DA7-8A09-6462364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9C8572-ED42-4FA2-83D2-9153B23E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61D6EC-6B3E-479A-AF85-70E70D6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3812721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4CF352E-0FE7-4F95-9352-E053846E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86E395-A722-4B9E-B01A-F82722AF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qwen3-32b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32D06D-8B58-4F1C-AC1D-711E75A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256 in / 256 out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457FAB-3331-4BCE-A776-9891B272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D3BD83-E5D6-457E-B80D-0DD5098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30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0DE520-4FF5-4800-89BE-BCD7385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30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92C15C-34B0-45B0-A327-BCB60DA1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4158343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1C3BF1-37D6-40D9-A4B0-9C342FD0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46814"/>
            <a:ext cx="4991100" cy="34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1CB2CA-7D91-4F74-952D-CEF4F694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C17B35-7DDA-47DE-BFE1-259BCC46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105C0C6-2C5A-454F-8603-4AC5DB65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51DBA2-FFE1-4E5B-A4AB-BFF4FEFC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A654AE-21D8-4004-9B08-24C4AA8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D68540-9849-41A6-A208-AB2AC0B1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499DAC-DC98-45D5-8B87-27209746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4503964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0DC4025-827D-4909-A2FE-862DD382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F20A976-6023-4700-8004-1EA175F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37EB66A-B511-4196-81B4-64ED77B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6C008E-0048-4E27-9A61-48DDE62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3DA363-F019-49B7-9739-C89DC200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689977F-E6A9-4A4E-92FD-E1BB4E17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D88729-967B-48C9-8926-BD2379D4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4849586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FB9D373-8547-498B-BB3B-FEB55CD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38057"/>
            <a:ext cx="4991100" cy="3456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4A2B08-289B-4D98-9BD0-612B7A90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3623F04-0FA5-44C1-B2B1-F775C01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B6114C-1077-4175-97F0-92D245FD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7329EC-74E7-46D8-921C-EBA0F17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6A96B1-63B5-431D-BA27-3C864E2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427D887-A5AC-4793-83EF-11BD7EC6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89606F7-5F6F-40E9-B6A8-C7D984C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5195207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100%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1372453-0986-41C0-88CA-113F5B3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MaaS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97181E-78FE-4372-8777-3732D06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864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096CE1-109B-4F30-8F62-84760F73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879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3F16E7B-9538-48DE-AEEB-F9DD2698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93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c1.0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66DCE37-8B57-4B6E-A9A4-E27AF42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907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C0E037-9D01-45AA-9978-DC77381C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921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64AD82-7D92-43E8-A0CD-EB31A799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936" y="5540829"/>
            <a:ext cx="617764" cy="29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C7000B"/>
                </a:solidFill>
              </a:defRPr>
            </a:pPr>
            <a:r>
              <a:t>60.0%</a:t>
            </a:r>
          </a:p>
        </p:txBody>
      </p:sp>
    </p:spTree>
    <p:extLst>
      <p:ext uri="{BB962C8B-B14F-4D97-AF65-F5344CB8AC3E}">
        <p14:creationId xmlns:p14="http://schemas.microsoft.com/office/powerpoint/2010/main" val="2653815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F5C860-F274-4290-B4AF-FE079F8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D085F-A7C1-4F55-A609-784AD77A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03E24-C3FD-4A0B-9923-446DB620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87A3-E8D6-4AD3-8949-76DED739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5631D-A8DA-4F60-A57C-46067D16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DeepSeek R1 TP16 Focus: DP1 Across Two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7DFF8-E906-4CF0-907F-F24D883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B6B80-AA46-4A26-8BDB-FC52BFC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2524125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ACB40-0E8B-40D0-8057-91177A2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7A45F-5C0C-48E6-867E-03C9277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Topology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C9FE2-F5D0-426A-97D0-544DA40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181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TP16 / DP1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05AD6-4596-47DB-9D85-7C9BD411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2181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Two-node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23F94-A1D6-4F31-91D5-01D61212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524125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CFF8F-310F-44A7-A24D-49CFBAB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67E0C-D805-4ACA-A8C5-626BD71C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14450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Daily chat c32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A9D31-14C3-49BF-90EA-D0D3287D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62100"/>
            <a:ext cx="2181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568 tok/s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278C8-A1FD-4517-A942-72DFD2CD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28825"/>
            <a:ext cx="2181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P95 latency 36.8s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55F83-0B95-4375-8BF1-1C47AA1B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62050"/>
            <a:ext cx="2524125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FFB0A-6FF5-4788-B938-16D019B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1620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9B3C35-C468-4529-99A0-905BAD9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14450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10-concurrency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41C94-033A-4029-8727-726AAAE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2181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286 tok/s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334DA-0B19-4A50-B2EE-2AF132E4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28825"/>
            <a:ext cx="2181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Error rate 2.0%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FF054-E54D-4CBD-ABDC-DAFD8619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62050"/>
            <a:ext cx="2524125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BC08F-87EB-4E3B-A4A2-0831918B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620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83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70D78-A791-48EF-90D4-CA79E936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14450"/>
            <a:ext cx="21812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Token 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A8E62-CF27-4844-9D8E-CC8BA40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62100"/>
            <a:ext cx="2181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1,000/512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2C8A4-8832-42BB-B470-627B225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21812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Input / output token target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0F3C0-8E94-4B86-B67D-E1E5384D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7239000" cy="25717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12E210-8B29-444B-AB73-8B48E83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89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TP16 benchmark rows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F858D-5A45-4B59-894B-6685861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689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74299-65FE-41F9-8D6F-69990E5C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Scenario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21B11-C065-48EC-AA38-DF791FDC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83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Conc.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918911-AF50-4F08-B82E-B2E9438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517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Req.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51D16-DA60-43B5-820E-5DD14F8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48822-004E-4457-ADD2-0315DC66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83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2F526-4CB9-4F9D-99DF-210E18D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17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Tok/s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BE6CC-D116-4774-BF9D-1ED99E9A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450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TTFT P95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40739D-F06D-4AB3-B41F-ACCDF59C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83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Latency P95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2EDF07-E8D6-485E-8349-B023DE2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917" y="3457575"/>
            <a:ext cx="670983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Err 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66DDB-4D82-4409-A602-FD5917DE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10conc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C861F3-9E52-4641-A586-E47B6F9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83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25BB3-B412-4506-B00A-2024977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517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88D16-C0C3-409F-808B-E9BE300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1,024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F2F985-1DD7-4A2E-8810-702A9C00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83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2,173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04878-7786-485D-BE03-40BBF682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17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286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AA1074-155A-4599-95FC-231D79E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450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1.3s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289A48-05A4-42E4-8B28-7262DD6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83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114s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CACCDE-43A7-4C90-BCC2-EA10E87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917" y="3695700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2.0%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55E925-A754-45BF-8D82-FF464AC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6896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A5A0EB-1CF4-46E8-9207-F4B4043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daily_chat_1kinput_512output_500_req_32conc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828435-A71B-4E0B-99FD-0C57C0B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83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E6161A-D3F1-4159-A6E5-3C0495A0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517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500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4730CC-B4A1-43A0-A5FB-165B30A9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0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1,000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260BA9-E04D-4312-A438-E792944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983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512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ED8CB6-8098-4526-9B0F-3FBE0FD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217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568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8E90F1-FBA6-4078-A1C4-7327F8D2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450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2.4s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9B3C5C-E2EB-48CD-B28F-D71260B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83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36.8s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840784-1E12-4EF6-BF2B-6111164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917" y="4600575"/>
            <a:ext cx="670983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747F7B-8D38-498E-A7AA-94502B34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1AF07F-E8C3-4131-B137-DBF1ECF8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74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827"/>
                </a:solidFill>
              </a:defRPr>
            </a:pPr>
            <a:r>
              <a:t>The c32 daily-chat run has strong aggregate output throughput with zero failures.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FE81EA-1A11-4969-B008-BF5BA760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11368F-4BCE-4952-ABE4-A8C36A8A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74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827"/>
                </a:solidFill>
              </a:defRPr>
            </a:pPr>
            <a:r>
              <a:t>The c10 long-output run shows higher P95 latency and a non-zero error rate.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017D08-885B-4D05-8143-4E530566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95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977F32-56CD-41B0-9B80-6A983FE1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4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827"/>
                </a:solidFill>
              </a:defRPr>
            </a:pPr>
            <a:r>
              <a:t>Use separate SLO envelopes for interactive chat and long-output generation.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630518-3CBB-4B7A-88F9-7F34917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8AD061-07DB-4BA6-9D87-0F9ED285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74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B7280"/>
                </a:solidFill>
              </a:defRPr>
            </a:pPr>
            <a:r>
              <a:t>Deployment note supplied by requester: DeepSeek TP16 is DP1 and uses two nodes.</a:t>
            </a:r>
          </a:p>
        </p:txBody>
      </p:sp>
    </p:spTree>
    <p:extLst>
      <p:ext uri="{BB962C8B-B14F-4D97-AF65-F5344CB8AC3E}">
        <p14:creationId xmlns:p14="http://schemas.microsoft.com/office/powerpoint/2010/main" val="21341253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74A66-AAF6-49C0-99BC-6B6484B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0963-C54B-4A93-AB2F-CEA5205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04CAB-1E7E-4288-9DD8-144A16D8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39C14-FF55-4D30-9F7E-8301831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FBB75-B22C-4862-A871-8F33B89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MaaS Focus: Baselines and Failed Capacity Probes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74292-E538-45DE-8250-4722232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3A079-0F9F-4216-9904-56746FD4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5143500" cy="4476750"/>
          </a:xfrm>
          <a:prstGeom xmlns:a="http://schemas.openxmlformats.org/drawingml/2006/main" prst="roundRect">
            <a:avLst>
              <a:gd name="adj" fmla="val 8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080C5-E635-4F85-B65F-DDB23E18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80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MaaS successful throughput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44736-A4EF-48D0-B86B-463FC676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5735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06975-24DC-4837-8326-0DB753F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3877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0.0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2DE63-98CA-49A3-BDA8-E1BC8371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194" y="165735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F002C-4475-4155-BEE6-B44FB644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694" y="543877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7CF4A-4F32-48D5-841E-60ACCB6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165735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31BD2-4FB9-4BBA-8D5B-131456CF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543877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591E0-A2E4-40AD-9D53-DF4334A3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381" y="165735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76E15-27B9-4B5E-9A52-11BE5A99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881" y="543877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455F6-D382-47FC-92B5-13C17D95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57350"/>
            <a:ext cx="9525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EC1FC-3FBF-4EEC-BF3E-8B5FE40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438775"/>
            <a:ext cx="419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6B7280"/>
                </a:solidFill>
              </a:defRPr>
            </a:pPr>
            <a:r>
              <a:t>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DFD13-6E11-4554-9619-7458691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DeepSeek-V3 c4 256/256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A050B-F6A6-484B-B823-25F83A90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85925"/>
            <a:ext cx="3000375" cy="422196"/>
          </a:xfrm>
          <a:prstGeom xmlns:a="http://schemas.openxmlformats.org/drawingml/2006/main" prst="roundRect">
            <a:avLst>
              <a:gd name="adj" fmla="val 4512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88852-0479-4CC2-8A04-17B45A35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66875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89.2 tok/s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7EC1B-3C04-4A53-8995-E3C6874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4613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deepseek-v3.2 c4 256/256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D6A86-0C46-4A85-8DEF-3DCA80BC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24138"/>
            <a:ext cx="2402318" cy="422196"/>
          </a:xfrm>
          <a:prstGeom xmlns:a="http://schemas.openxmlformats.org/drawingml/2006/main" prst="roundRect">
            <a:avLst>
              <a:gd name="adj" fmla="val 4512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5B9C1-6C39-48AD-BE95-53DE8427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568" y="2605088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71.4 tok/s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F0217-9008-436E-B8AE-D4C44E4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deepseek-v4-flash c2 1,024/2,0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CA07B-CF1A-4EDA-9568-A2A8917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025240" cy="422196"/>
          </a:xfrm>
          <a:prstGeom xmlns:a="http://schemas.openxmlformats.org/drawingml/2006/main" prst="roundRect">
            <a:avLst>
              <a:gd name="adj" fmla="val 4512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74824-21CF-47B8-AFBB-EB2258D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490" y="354330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30.5 tok/s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4DE7C-F98E-4111-9800-6CE58BF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1038"/>
            <a:ext cx="158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B7280"/>
                </a:solidFill>
              </a:defRPr>
            </a:pPr>
            <a:r>
              <a:t>deepseek-v4-flash c1 1,024/1,0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C882B-D3C1-4AE4-8CD1-4B98DAF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0563"/>
            <a:ext cx="200137" cy="422196"/>
          </a:xfrm>
          <a:prstGeom xmlns:a="http://schemas.openxmlformats.org/drawingml/2006/main" prst="roundRect">
            <a:avLst>
              <a:gd name="adj" fmla="val 9518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C6CDB-738E-4F5A-8773-675C93D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387" y="4481513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11827"/>
                </a:solidFill>
              </a:defRPr>
            </a:pPr>
            <a:r>
              <a:t>6.0 tok/s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854D9-FB6D-472C-8010-78E63904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43000"/>
            <a:ext cx="53340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C51A30-5B42-462A-9C87-44CA093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76350"/>
            <a:ext cx="499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MaaS reliability 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53E59-FE68-4B12-8D40-9CD263A5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499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D3F6A9-48CA-4FD5-951F-F2D9E5E4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0F98F-884C-4372-B9F4-AF7E81C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Scenario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BD116D-7C68-444D-BF25-AA88212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Conc.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BFCFCF-AD09-41AD-B499-A7D654D5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Req.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A38729-B8BA-4499-B522-D2C8F63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C6D3D1-8109-443D-96B6-3B4D496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Err 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E02F18-B58C-419E-A620-3494745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1647825"/>
            <a:ext cx="617764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Tok/s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7EB3C-7C4D-4723-B873-071888D5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90BA85-2158-4338-9F83-42206148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F4684E-E04F-476B-B411-349BF90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3305C8-E5B4-483B-AE98-D35AEC72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5CF33E-DB84-400C-B681-0B50791D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482B77-DDB5-4D99-AE57-AEEB387C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145200-FBF4-4E5C-8155-CA8662FC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1885950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0CBCF8-CEAF-4D17-9F7B-4F12E706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68979"/>
            <a:ext cx="4991100" cy="340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1824D3-9D59-4FB2-AF04-8DD73F5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855F52-37FA-404B-90CF-0E5DDFE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3486EC-764C-47B4-A9E6-D0C7FA6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AF9F71-6B65-469E-9587-A08069C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798B04-2019-44A8-ABE1-B7B3567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DD38A1-5DB4-489C-AC5E-5FCB902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5F324A-47BF-4EC9-9D4F-1FBE681D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2226129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E7EDA6-4068-4D80-A5CA-BE42340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qwen3-32b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DC5883-F21C-43DC-993E-9890810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256 in / 256 out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17793A-1035-46E2-B289-C37D174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B4CDB6-E106-40A1-B0EB-D9AD238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30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267D1E-59EA-4624-81DA-6238326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FD4D30-046E-4D5E-9463-AC064D1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5216D5-E2E8-47B9-9993-F7BB96F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2566307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BEBBB9-9C27-4AE4-B515-AEE5B3A0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49336"/>
            <a:ext cx="4991100" cy="340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6A58A1-F516-4366-9A60-D34A334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B7CE37-BFDF-452E-98C1-545A5D3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062DDC-B430-4009-A912-F33911A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F13B540-A72F-4D72-AE4E-E6DABEC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E04B90-E5A2-4303-B675-5F709751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543C64-5E62-4C96-9311-D3B997A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511FFE-CFA0-4D69-ACFF-B73190F6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2906486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445951-937D-4621-9B9D-DEEFDE87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B56ED1-8D24-4435-8D84-AA3E9A0D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31AF3F-F772-4695-B8FC-527B9354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B60FDF-DAB4-4320-9693-E6DE37A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AB5015-CCBF-49AD-8FAD-3D5D9633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BBCB7C-DAFD-4F7F-9C8E-E1E10CC8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3CCB47-0EEC-4DB5-929F-081FACC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3246664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1569F1-C638-436A-AC11-18EC00AB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9693"/>
            <a:ext cx="4991100" cy="3401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D07112A-6CE6-47B4-AC8D-2CB8870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369072-4E80-49BC-9860-0AEA2B9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2048 out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1F859E-786F-49BE-B54F-64FAE38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189AE6-C7D7-4E23-968C-36E720D8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C034B65-8419-40DC-9B8A-49407E83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0.0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7A9313A-E0EF-4D14-A4B5-BDB75D0D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100%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7C4CC2-F144-4FC1-A733-107E5DCE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3586843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747EA8-B31F-4A0C-99FE-FF08C393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deepseek-v4-flash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70D23B-B03C-4062-BCAE-FBFB37A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564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1024 in / 1024 out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D06049-3024-4BFD-87C5-B2171739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579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c1.0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AA29BD-B198-44FD-A00A-4369081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593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6C3D536-C4DC-4315-96C2-47B8CF3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8.0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CB970-5407-44E5-B634-46916A56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621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60.0%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475191-E54A-4C42-B9C4-A2BBD00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636" y="3927021"/>
            <a:ext cx="617764" cy="292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111827"/>
                </a:solidFill>
              </a:defRPr>
            </a:pPr>
            <a:r>
              <a:t>6.0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2A01AAD-4D87-4299-8C65-67CB55FC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24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8C22C06-A3AC-4AD6-9907-5F1A2547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4552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11827"/>
                </a:solidFill>
              </a:defRPr>
            </a:pPr>
            <a:r>
              <a:t>DeepSeek-V3, deepseek-v3.2, and qwen3-32b provide clean 256/256 comparison points when successful.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22ABD4E-FBDD-4FB4-A400-7647829F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78995F-C0B9-479B-8DD5-6DB6592D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552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11827"/>
                </a:solidFill>
              </a:defRPr>
            </a:pPr>
            <a:r>
              <a:t>Several deepseek-v4-flash 1k-input probes failed with connection or rate-limit patterns; they should be treated as operational capacity evidence, not discarded as outliers.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B0F5CA-18EF-4C70-82E5-AFA8CB75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57B080D-9874-43EA-BD8D-BFD7640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552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11827"/>
                </a:solidFill>
              </a:defRPr>
            </a:pPr>
            <a:r>
              <a:t>For internal reporting, separate steady-state model baselines from admission-control stress tests.</a:t>
            </a:r>
          </a:p>
        </p:txBody>
      </p:sp>
    </p:spTree>
    <p:extLst>
      <p:ext uri="{BB962C8B-B14F-4D97-AF65-F5344CB8AC3E}">
        <p14:creationId xmlns:p14="http://schemas.microsoft.com/office/powerpoint/2010/main" val="15819741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1360D-7BB5-4FD7-BB80-565E18C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39306-1873-4E24-8C71-56E6483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03D9C-7663-4766-8C8F-EB284D6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ECAEF-36C5-4294-90ED-45057B9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F0CD-13F1-487F-835A-A20A1C2E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Appendix: Scenario Detail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0168D-F3D9-4831-8D19-474684D2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2EF6D-B14E-467F-8BA3-11DE9818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1334750" cy="5086350"/>
          </a:xfrm>
          <a:prstGeom xmlns:a="http://schemas.openxmlformats.org/drawingml/2006/main" prst="roundRect">
            <a:avLst>
              <a:gd name="adj" fmla="val 7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13086-072A-4E53-AAD9-33FED78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991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11827"/>
                </a:solidFill>
              </a:defRPr>
            </a:pPr>
            <a:r>
              <a:t>Top throughput scenarios with required run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41960-29F5-48B4-B063-56BB31F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991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DC9DD-ADFF-4707-89A1-584A15A5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77CEF-F77C-4FBB-B3DC-AB7E6F33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8F9E6-BA5E-401C-B0FD-197038B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A731B-EF4D-4F5A-A830-5C65F76A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F9E8D-8145-4CFC-9233-4EEFE98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DDA4-D971-437C-A05B-1D013F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Conc.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2F154-4B92-464D-84F1-369AB2B9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Req.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A3AC3-F1E3-4307-8626-DA8099C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In/Out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08352-22B6-4EF6-9B6D-AA90D2A7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Tok/s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228A6-67E5-4CE4-9C6B-A4A8EC44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Lat P95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DBDC2-D26D-482C-9FC4-15E7B2B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1628775"/>
            <a:ext cx="904009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t>Err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953D4-767D-4052-833B-49CBE9E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B110D-AB49-4424-AEF1-1067F0BD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tubitak-gpt-90conc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3CE4C-3CF9-4E2E-A451-E185AE4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tubitak-gpt-90conc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90589-A820-4099-A8B0-E920CBC6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92C91-8041-4A83-B9E5-219A52C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0AA13-E3C4-48DC-8827-F4A10E3C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81F98-7B63-47C8-A4B1-39EA0262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500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F22B9-0CD0-4C3D-9AC2-B213E9AB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1,024/842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34BD1-9D67-44B9-B6AF-E2D0E9E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717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50710-E82A-4D1A-B523-1F0885AB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111s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2161E-DB7D-42B5-BEDE-A5C436A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1866900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9D1FF-371C-4451-A252-EE1AA69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0022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0DB6E-33FE-44EF-9BB6-E51961DD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A105C-B3C3-49EE-A154-6E0833A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tubitak-gpt-100conc-8err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F9CAEB-B556-4759-B65F-4CDACC8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tubitak-gpt-100conc-8err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2BEA86-1B7C-45ED-8FDC-1806705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E9BEF1-8711-4318-A9AC-0AFD4C5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90340-E76B-4AC4-887E-061DB912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87982C-B827-4DD1-93F2-82F3906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500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D9570A-793B-4882-A7A3-CD05D01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1,024/843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E1E223-C9DB-4E05-87C8-6BD2EA5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706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CB86D1-A4D0-40D6-A172-8C0A3D0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119s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A9480E-D802-476F-9C7B-98029C3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137172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10EC71-139D-419B-85B8-C99CCDC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17443A-1E62-47DF-B33E-A32B703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qwen3-vl-30b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12F9BC-209A-4F50-BD02-2E2E084F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highconcurrency_text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A13C10-6F28-4DDA-B7F7-7369D66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2B03B0-61F9-4369-900E-AC6E32DD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7A250F-19A4-4A6A-890C-9819FC7A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1D89EF-24B0-429A-88AD-1C1EFE8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0C0564-177B-4CE3-9654-50257D3F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2,048/628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C385AE-FBCB-4EE3-9B6E-71B8036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700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41EAC-30A1-4DE1-B679-3752906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13.6s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A34F0D-A221-45C6-BC80-5AF1D13A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40744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2C11D8-5467-4502-A3AE-0E9A6414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0566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BB9D67-C4F8-4D04-97BC-81ABD82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8E0E7E-5984-4610-A4E8-EEE3BFE7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gpt-oss-120b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954355-8468-42EE-AE04-686654D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heavy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107292-00A5-4A41-96ED-0D9547FC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826465-AFA3-43DD-8E9A-4A8BA3D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C8B097-746C-4363-90D4-A63F6C5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c64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C37D6E-72D3-4F81-B50D-55E9EDE8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375B7F-39C9-48BF-90EA-460103E5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4,096/796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4BEBB2-DA5B-4DC7-8A00-38044AA1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601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5124EE-A0FC-49A9-B9D2-A84B4EF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78.5s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89D562-B496-499B-8214-5E6AABA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67771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6E4786-97FD-4D6F-ADB4-DC75025B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503473-63C4-4C03-9A9B-C6804BF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deepseek-r1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7C36CC-C704-4C21-B965-42196D5E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daily_chat_1kinput_512output_500_req_32conc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23789A-500B-411E-8F0E-AD3993B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97C2D5-187A-433D-B424-4F24E6C3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BD5851-9FBC-42C4-81A3-24CEF99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c32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6A0271-D956-43FB-8094-790FCA48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500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88537-1B42-4A94-978B-B7A1D619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1,000/512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2C3616-90EA-4815-961D-4B7951F4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568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D6FB6A4-BC95-47F5-B517-271B2D6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36.8s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4B20C2-2E1C-4BE9-BCE5-B03A6B7B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294798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4506AE-6957-4204-BD8F-FB2D7FC0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1109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894CAA-C17F-47B7-AB54-EB9071AA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0406A8-6BEC-4E88-BEF4-EAA3A13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C88841-71E3-47D6-BB7E-3ABF2D7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light_chat_16c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85973FC-F149-4A6D-B236-E0E4BE9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9B3D59-4824-4EC3-9ED7-6C9F646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4535E3-CCA4-4FC3-9D95-8D1F2ACC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9C4998-F36D-41DD-AE01-568408E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EE8C3C-A63F-4A78-A603-D83BB232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1,000/1,000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1A8C2-13DC-4343-AB98-82BF26FD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461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FB58F0-E7C9-4DBC-8829-51750BE4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40.9s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F41F5E-DE01-4B6B-94F9-1956DCC7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21825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B0658C4-1497-42DC-BD5A-A5FEC43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9291FA-1FE7-4640-834D-8A2E9F01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8930B8-F125-4CC4-AD1B-CB48EB3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light_chat_16c_retry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6E17C6-9D81-4EB4-967D-51429C4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CB1A3BB-E949-4C23-B0DD-142941C6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81E332-BCB2-4C7A-B6EB-A787CA9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3314F6-61E3-43DE-925A-01817335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E924CB-C912-45F5-B6AB-9EF70B45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1,000/976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CBC3DD-E248-40C9-9FA9-4AB7794B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451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703EAA-1DC6-477B-AE50-BB0F688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46.2s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E73821-C52B-4991-BFCF-6CC53DE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48853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37C14A-B470-4E37-A6BF-0F61F4B9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1653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0A01482-C07E-430F-B82F-108BA634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4218E9-44D0-458F-9D77-F2BE4D2C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AE192E-F86A-4E55-80F5-22F1DE1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doc_summarization_16c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45559D5-6738-413B-8422-8E0D39BD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925A66C-E93A-4AE7-9830-1D1B148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C2AE48-D795-4E19-A379-FB98C579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4F6C07-F9EA-4072-A861-53DC867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B0F0AC4-ACF2-40A6-85C7-B5A79AF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4,000/1,000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F3CFA38-38E3-40BB-A9B5-775815D4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362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0EC3CDF-2130-4D81-B204-8215FB5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57.5s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C9237A-943E-4C09-9AED-0D9FD4EA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375880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493E214-8ED6-4582-A4A1-C1F1A3E3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646FED-1261-4302-B2EE-3E67B5E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deepseek-r1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9CA07C-A725-4E5C-9C54-289BAC7F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10conc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885C1D-6511-4A3D-BE76-120507D8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944236-FD03-473C-B3C5-782DFC49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5139CA9-35EF-4C6A-8BF5-FB4A9D5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c10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2BF5575-6968-4DD9-A104-B5D45CB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0FADFB5-7619-405E-861A-C1CB608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1,024/2,173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BB83776-2A7A-4B5D-A806-6995BE8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286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D56AF77-E4BA-48C6-A312-6D97BA1A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114s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129D424-BAAC-4BA2-BCA7-66AC34BE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029075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C162B4-F309-4341-B624-707D2A9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2197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4336FDE-8DF8-4E89-95D4-9F61D92F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2EE1611-E078-43F8-955C-07DC0C5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F887399-44EC-4B2D-947E-5D414B04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light_chat_8c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07F1BD9-9A58-4EFE-B878-ABDCAFCA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03CABB2-71B2-42A8-BA2C-F41A5E6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C8774BF-0384-46F7-BC30-BA1C82A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c8.0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F744BC9-CAB3-4D22-89C4-98C7B585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76B302D-9976-4A03-BE18-5F31F28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1,000/1,000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6C7FA65-C0D0-40A1-AC54-DEA9366F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280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A4C5F9-7034-48C6-839F-F3B458D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35.0s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F0CEB23-59A7-4BAF-BDDF-441A5EE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299347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59E16F1-BF39-4DC8-B4E2-8F898BB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D8B14E5-8FFC-47C5-93BA-A4005CE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BC9D5BF-7AD4-40D8-9659-480EBE37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doc_summarization_8c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022AD6-006D-4295-A6A0-7F23F1DF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1826CED-A789-460E-90E9-82C4CCC0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6170D51-7312-4753-B0DD-8BF190E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c8.0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289E1BF-B890-4CBD-8472-DD81D41E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16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E4F45C1-7B45-472F-89C6-FF82AD8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4,000/1,000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106F8A2-C1C0-480D-B5B9-D36C6DD9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250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7D767FE-C581-44B3-8BA6-1ACA1303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39.0s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B943566-CC7D-4387-8562-04D1D43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569619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894AECB-FA2A-41DD-A446-E73DE4A3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2741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8918649-A505-45D3-94A4-00DFDA59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EDA49DD-F847-4A0B-B0DF-02A32418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gpt-oss-120b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DEE08AC-9DC1-4D73-B547-B0351688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chat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960841E-A791-4B91-9586-A5489253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49EDC04-7B2A-4D1C-AE57-D9D6573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0A2E4DE-F816-4899-9DB8-438BB16A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A4BB1B8-A9C3-4941-8A06-205ABB5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524A77B-92CB-41CC-A2A6-EE9B19E9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1,024/272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A88BBBE-39B8-4852-A347-403F5F1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230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094674-7031-408B-A929-A03344BB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17.9s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2FD088C-9D9C-4E76-A877-8F7885FD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4839891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D64612B-39D9-492C-B9B1-3CD199D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5541588-2689-45C8-AAB0-42C113C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B585671-4402-4C36-B4BC-B02824E7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light_chat_16c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85E483F-6F8F-47DC-9949-51E88534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5ACBC0-D10E-4EF5-A446-17EA27F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1408821-5517-4BFD-A707-31EA01C6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34E02BC-3CEA-42CC-AA66-F16BCC81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6CA0992-5EA8-4239-B7FE-C992820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1,000/977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285780-523C-44A0-B15E-C27E93F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147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8827BA3-B463-47D2-9FF6-4E4E9C1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108s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A9A047D-F30E-4EC8-A052-E0614AE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110163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FEA26CF-3B6F-453A-A74A-1C694043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3284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5A4FC31-97D1-448E-A664-A65A971F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BA4D166-8A05-4F94-8C07-63E2CD3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qwen3.5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1F17379-F1DF-4E06-A729-036B003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light_chat_16c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3121F24-BD2E-4C9C-876F-A25FC9D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4902D9-230B-4EA2-8F67-60472C1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111764A-7BF7-4C4E-89E5-2CAD6D97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9D6B496-34AE-4195-8E64-CA0AD066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3B78EA7-62C5-43E1-A631-C4CF0A1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1,000/1,000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6E92265-BE8A-479F-A453-1386FCC8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147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2CBAAC3-0D6B-4DB0-89BD-BF472E6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108s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46F1C93-271B-4068-9B5D-3949F96E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380434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889D8A9-CA7E-40E9-9254-B438475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C231258-B3F9-4243-893E-9A17289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EF1708A-3520-4603-85E1-CE930F63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heavy_doc_summarization_4c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B02BD8C-F74D-4033-9DEC-6F52EBE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2.0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A2231FA-08FB-40F8-80B5-D1A1B1C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D146562-B482-4D64-8738-5C2E177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c4.0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72E6B7E-E55D-48BD-B5C6-F51936C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8.0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F7BA51E-328B-4500-A971-DFE0AA3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8,000/1,000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5D09492-CD97-4451-B177-BF43E6A0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140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6A1632D-F740-4C77-BE52-4175C8D3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33.4s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9E08E31-5690-4EC3-AE2B-DB08041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650706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4679C19-F3C8-412C-B909-6CC5546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3828"/>
            <a:ext cx="10991850" cy="2702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92C014B-AA82-4749-8620-6BDB62D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ModelArts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BE57B9C-443A-4A06-90AD-73D45FA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959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qwen35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722C7847-82F2-4ADB-8C98-FDE585B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18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25" b="0" i="0">
                <a:solidFill>
                  <a:srgbClr val="111827"/>
                </a:solidFill>
              </a:defRPr>
            </a:pPr>
            <a:r>
              <a:t>doc_summarization_16c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A991F16-11FB-4E5B-B244-10A6603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477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1.0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6D560D7-C160-4FDC-90A7-3AE9814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736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n/a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86C2AA6-F52A-4EF5-A2A6-550633EC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995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c16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44C2CA0-E54E-4295-AA7D-92768DFE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255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32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0C3B55F-8106-4792-A0F7-77CA6681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4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4,000/992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9956276-11A5-4625-9B1C-00E5AD10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773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135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C52453A-A844-4951-B647-55BCC220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032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126s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6AB8192-CFE6-46C1-ABDA-A235E1E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291" y="5920978"/>
            <a:ext cx="904009" cy="222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00" b="0" i="0">
                <a:solidFill>
                  <a:srgbClr val="111827"/>
                </a:solidFill>
              </a:defRPr>
            </a:pPr>
            <a:r>
              <a:t>0.0%</a:t>
            </a:r>
          </a:p>
        </p:txBody>
      </p:sp>
    </p:spTree>
    <p:extLst>
      <p:ext uri="{BB962C8B-B14F-4D97-AF65-F5344CB8AC3E}">
        <p14:creationId xmlns:p14="http://schemas.microsoft.com/office/powerpoint/2010/main" val="7301033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E3959-8ABB-4421-A3BF-81BA2B3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788CB-F7FC-41D7-BC2F-756BBACF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1601B-F8C8-47BB-A034-96A6E78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1771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DB6E6-25B2-4CF7-80DB-101A517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D1D5DB"/>
                </a:solidFill>
              </a:defRPr>
            </a:pPr>
            <a:r>
              <a:t>HUAWEI CLOUD INTERNAL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8F1C8-1FF1-4BF0-B322-089CE7EF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t>Methodology and Reproducibility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A7B97-B8AF-40DE-ABF8-0EACDDB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t>Internal benchmark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7DF18-2D71-4D7D-A3D6-55E3FDB6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2381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05E2D-7DB9-47EB-9F9C-A738FD4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151B1-A859-4AA3-8EEF-AFF4D8A1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Data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D148-2FC4-4F38-BD42-868204D7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CSV +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08A60-5A61-4524-8F76-96156EB5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MaaS summaries and ModelArts request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140E8-995D-4FEA-9411-7A1B1E0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00150"/>
            <a:ext cx="2381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63501-D28D-4B54-AAC8-56B5C63E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001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01D31-661E-4DB6-A998-24A889E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525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ModelArts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B58AA-DB8D-4A39-A016-45E43F2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A957B-1CBB-4750-B303-C18EE736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Raw and summary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3CE5A-D32E-48DD-ACF4-300A8815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2381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A3E3C-651C-4770-AA5A-262AA9E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4B3FE-CD63-4EDC-B35D-224C6038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MaaS runs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C0650-F73F-4FBD-AD55-9A70360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74AE6-455E-4BC5-AFC6-660AC1B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6692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JSON summary run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EF334-4793-4DCC-9542-B09D6BE4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238125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D7941-F37C-49B5-BE2E-6497987B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001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95E2B-CF4D-4EB9-BAEA-AA4D86AD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280"/>
                </a:solidFill>
              </a:defRPr>
            </a:pPr>
            <a:r>
              <a:t>Normalized 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F6E6A-8759-459A-810F-19DFAB3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038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11827"/>
                </a:solidFill>
              </a:defRPr>
            </a:pPr>
            <a:r>
              <a:t>51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B4618-8067-43BF-B9FE-2DFB0425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66925"/>
            <a:ext cx="2038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B7280"/>
                </a:solidFill>
              </a:defRPr>
            </a:pPr>
            <a:r>
              <a:t>Deduplicated scenario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B4CC6-72DF-4F32-B321-406E54A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2F483-C6B2-4F8D-8243-896C02E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31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827"/>
                </a:solidFill>
              </a:defRPr>
            </a:pPr>
            <a:r>
              <a:t>Throughput = successful generated output tokens divided by observed wall-clock duration.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754AA4-D4C2-4D86-BD09-B4D3112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3D7C6-A1C3-4437-97E0-3B78BA4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931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827"/>
                </a:solidFill>
              </a:defRPr>
            </a:pPr>
            <a:r>
              <a:t>Latency and TTFT use reported summary values when present; raw CSVs compute mean and percentile values from successful request rows.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81524-BAE7-406F-B9C9-A2B0CD6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A7E51-29EF-47D0-9ED5-36359AA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931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827"/>
                </a:solidFill>
              </a:defRPr>
            </a:pPr>
            <a:r>
              <a:t>Concurrency is parsed from filenames or summary rows; when absent, it is derived from peak overlapping request windows.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C1C052-C604-420A-8CF8-19A4AF2C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B045B-A3F3-4938-AC67-D1D0290B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931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827"/>
                </a:solidFill>
              </a:defRPr>
            </a:pPr>
            <a:r>
              <a:t>ModelArts summary CSVs take precedence over raw CSVs for matching scenario keys because they preserve intended request and token configuration.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D41CFB-1264-4073-AA58-9F82810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17D01A-F8E8-4DA6-B815-B76E0EE2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9315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827"/>
                </a:solidFill>
              </a:defRPr>
            </a:pPr>
            <a:r>
              <a:t>MaaS files do not expose data/tensor parallelism, so DP/TP fields are reported as n/a for MaaS.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20D32E-7628-4692-9870-5971DC30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47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2C0305-5D6B-4025-A2CC-372C1BD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994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B7280"/>
                </a:solidFill>
              </a:defRPr>
            </a:pPr>
            <a:r>
              <a:t>Rebuild command: python3 tools/generate_benchmark_report.py, then rebuild this deck through artifact-tool from outputs/benchmark_report/normalized_benchmark_runs.csv</a:t>
            </a:r>
          </a:p>
        </p:txBody>
      </p:sp>
    </p:spTree>
    <p:extLst>
      <p:ext uri="{BB962C8B-B14F-4D97-AF65-F5344CB8AC3E}">
        <p14:creationId xmlns:p14="http://schemas.microsoft.com/office/powerpoint/2010/main" val="117391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2026-06-11T11:25:56.7940000Z</dcterms:created>
  <dcterms:modified xsi:type="dcterms:W3CDTF">2026-06-11T11:25:56.7940000Z</dcterms:modified>
</coreProperties>
</file>