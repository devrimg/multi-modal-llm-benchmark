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ed03183ca14c33" /><Relationship Type="http://schemas.openxmlformats.org/officeDocument/2006/relationships/extended-properties" Target="/docProps/app.xml" Id="Rbc60e97c6cdf4d12" /><Relationship Type="http://schemas.openxmlformats.org/officeDocument/2006/relationships/officeDocument" Target="/ppt/presentation.xml" Id="Rb7581efd24f642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2f9d4789bd4ff1"/>
  </p:sldMasterIdLst>
  <p:notesMasterIdLst>
    <p:notesMasterId xmlns:r="http://schemas.openxmlformats.org/officeDocument/2006/relationships" r:id="Rc7309cd124a6427c"/>
  </p:notesMasterIdLst>
  <p:sldIdLst>
    <p:sldId xmlns:r="http://schemas.openxmlformats.org/officeDocument/2006/relationships" id="256" r:id="Rf17c855e098f4065"/>
    <p:sldId xmlns:r="http://schemas.openxmlformats.org/officeDocument/2006/relationships" id="257" r:id="Rdf7dae7454764862"/>
    <p:sldId xmlns:r="http://schemas.openxmlformats.org/officeDocument/2006/relationships" id="258" r:id="Rf23d4cf522184517"/>
    <p:sldId xmlns:r="http://schemas.openxmlformats.org/officeDocument/2006/relationships" id="259" r:id="Rcdeca48062e945ff"/>
    <p:sldId xmlns:r="http://schemas.openxmlformats.org/officeDocument/2006/relationships" id="260" r:id="R22ea1b18be0a43b4"/>
    <p:sldId xmlns:r="http://schemas.openxmlformats.org/officeDocument/2006/relationships" id="261" r:id="Rd5cf813b825f48ec"/>
    <p:sldId xmlns:r="http://schemas.openxmlformats.org/officeDocument/2006/relationships" id="262" r:id="R25c5fbf692954076"/>
    <p:sldId xmlns:r="http://schemas.openxmlformats.org/officeDocument/2006/relationships" id="263" r:id="R99e9d840d14c4956"/>
    <p:sldId xmlns:r="http://schemas.openxmlformats.org/officeDocument/2006/relationships" id="264" r:id="R31b9031f656447b4"/>
    <p:sldId xmlns:r="http://schemas.openxmlformats.org/officeDocument/2006/relationships" id="265" r:id="R378e9eab82ef47da"/>
    <p:sldId xmlns:r="http://schemas.openxmlformats.org/officeDocument/2006/relationships" id="266" r:id="R8c48a1413109433b"/>
    <p:sldId xmlns:r="http://schemas.openxmlformats.org/officeDocument/2006/relationships" id="267" r:id="Rb697b68f23cc4e3a"/>
    <p:sldId xmlns:r="http://schemas.openxmlformats.org/officeDocument/2006/relationships" id="268" r:id="Rc80fb13bf1c049a3"/>
    <p:sldId xmlns:r="http://schemas.openxmlformats.org/officeDocument/2006/relationships" id="269" r:id="R7952f35fdf16435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bf019fddd8473e" /><Relationship Type="http://schemas.openxmlformats.org/officeDocument/2006/relationships/slideMaster" Target="/ppt/slideMasters/slideMaster1.xml" Id="Rdb2f9d4789bd4ff1" /><Relationship Type="http://schemas.openxmlformats.org/officeDocument/2006/relationships/notesMaster" Target="/ppt/notesMasters/notesMaster1.xml" Id="Rc7309cd124a6427c" /><Relationship Type="http://schemas.openxmlformats.org/officeDocument/2006/relationships/presProps" Target="/ppt/presProps.xml" Id="R4afca58ddb334acc" /><Relationship Type="http://schemas.openxmlformats.org/officeDocument/2006/relationships/tableStyles" Target="/ppt/tableStyles.xml" Id="R52a1977657a74525" /><Relationship Type="http://schemas.openxmlformats.org/officeDocument/2006/relationships/slide" Target="/ppt/slides/slide1.xml" Id="Rf17c855e098f4065" /><Relationship Type="http://schemas.openxmlformats.org/officeDocument/2006/relationships/slide" Target="/ppt/slides/slide2.xml" Id="Rdf7dae7454764862" /><Relationship Type="http://schemas.openxmlformats.org/officeDocument/2006/relationships/slide" Target="/ppt/slides/slide3.xml" Id="Rf23d4cf522184517" /><Relationship Type="http://schemas.openxmlformats.org/officeDocument/2006/relationships/slide" Target="/ppt/slides/slide4.xml" Id="Rcdeca48062e945ff" /><Relationship Type="http://schemas.openxmlformats.org/officeDocument/2006/relationships/slide" Target="/ppt/slides/slide5.xml" Id="R22ea1b18be0a43b4" /><Relationship Type="http://schemas.openxmlformats.org/officeDocument/2006/relationships/slide" Target="/ppt/slides/slide6.xml" Id="Rd5cf813b825f48ec" /><Relationship Type="http://schemas.openxmlformats.org/officeDocument/2006/relationships/slide" Target="/ppt/slides/slide7.xml" Id="R25c5fbf692954076" /><Relationship Type="http://schemas.openxmlformats.org/officeDocument/2006/relationships/slide" Target="/ppt/slides/slide8.xml" Id="R99e9d840d14c4956" /><Relationship Type="http://schemas.openxmlformats.org/officeDocument/2006/relationships/slide" Target="/ppt/slides/slide9.xml" Id="R31b9031f656447b4" /><Relationship Type="http://schemas.openxmlformats.org/officeDocument/2006/relationships/slide" Target="/ppt/slides/slide10.xml" Id="R378e9eab82ef47da" /><Relationship Type="http://schemas.openxmlformats.org/officeDocument/2006/relationships/slide" Target="/ppt/slides/slide11.xml" Id="R8c48a1413109433b" /><Relationship Type="http://schemas.openxmlformats.org/officeDocument/2006/relationships/slide" Target="/ppt/slides/slide12.xml" Id="Rb697b68f23cc4e3a" /><Relationship Type="http://schemas.openxmlformats.org/officeDocument/2006/relationships/slide" Target="/ppt/slides/slide13.xml" Id="Rc80fb13bf1c049a3" /><Relationship Type="http://schemas.openxmlformats.org/officeDocument/2006/relationships/slide" Target="/ppt/slides/slide14.xml" Id="R7952f35fdf1643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c519bcee8f4c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66815596ec47f7" /><Relationship Type="http://schemas.openxmlformats.org/officeDocument/2006/relationships/notesMaster" Target="/ppt/notesMasters/notesMaster1.xml" Id="R848aca1ae82549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099cdf329d4c28" /><Relationship Type="http://schemas.openxmlformats.org/officeDocument/2006/relationships/notesMaster" Target="/ppt/notesMasters/notesMaster1.xml" Id="Rabae955cf7a14e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326f629043411c" /><Relationship Type="http://schemas.openxmlformats.org/officeDocument/2006/relationships/notesMaster" Target="/ppt/notesMasters/notesMaster1.xml" Id="R479b3c0e218245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9cc56ed8314ff5" /><Relationship Type="http://schemas.openxmlformats.org/officeDocument/2006/relationships/notesMaster" Target="/ppt/notesMasters/notesMaster1.xml" Id="R965b3919e94848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d0d76177eb4f18" /><Relationship Type="http://schemas.openxmlformats.org/officeDocument/2006/relationships/notesMaster" Target="/ppt/notesMasters/notesMaster1.xml" Id="Rd12390552c9c44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910fc19b8f4b6d" /><Relationship Type="http://schemas.openxmlformats.org/officeDocument/2006/relationships/notesMaster" Target="/ppt/notesMasters/notesMaster1.xml" Id="Rc58f19de51d14d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c4d5d810454c1d" /><Relationship Type="http://schemas.openxmlformats.org/officeDocument/2006/relationships/notesMaster" Target="/ppt/notesMasters/notesMaster1.xml" Id="Rbdbba146fdb74a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f1e58c3fe14797" /><Relationship Type="http://schemas.openxmlformats.org/officeDocument/2006/relationships/notesMaster" Target="/ppt/notesMasters/notesMaster1.xml" Id="R5b7d7a49b0e54b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c18d927c674ee8" /><Relationship Type="http://schemas.openxmlformats.org/officeDocument/2006/relationships/notesMaster" Target="/ppt/notesMasters/notesMaster1.xml" Id="Rb21252e8a63349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619d37da0048cf" /><Relationship Type="http://schemas.openxmlformats.org/officeDocument/2006/relationships/notesMaster" Target="/ppt/notesMasters/notesMaster1.xml" Id="Ref53eb103c4346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5269af146a4c78" /><Relationship Type="http://schemas.openxmlformats.org/officeDocument/2006/relationships/notesMaster" Target="/ppt/notesMasters/notesMaster1.xml" Id="R468697413f454c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a0d50a78d14302" /><Relationship Type="http://schemas.openxmlformats.org/officeDocument/2006/relationships/notesMaster" Target="/ppt/notesMasters/notesMaster1.xml" Id="R668e8de5eaff45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19dc5a2eb44e55" /><Relationship Type="http://schemas.openxmlformats.org/officeDocument/2006/relationships/notesMaster" Target="/ppt/notesMasters/notesMaster1.xml" Id="Rce371b54484347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0640e4f242497a" /><Relationship Type="http://schemas.openxmlformats.org/officeDocument/2006/relationships/notesMaster" Target="/ppt/notesMasters/notesMaster1.xml" Id="Rd70dcef1252b46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dc26fe42a4f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d2222dbb324105" /><Relationship Type="http://schemas.openxmlformats.org/officeDocument/2006/relationships/slideLayout" Target="/ppt/slideLayouts/slideLayout1.xml" Id="Rdea4a760f57b4c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a4a760f57b4c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d4350f8ac451f" /><Relationship Type="http://schemas.openxmlformats.org/officeDocument/2006/relationships/notesSlide" Target="/ppt/notesSlides/notesSlide1.xml" Id="R169725b0d5ae44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80e2502be4544" /><Relationship Type="http://schemas.openxmlformats.org/officeDocument/2006/relationships/notesSlide" Target="/ppt/notesSlides/notesSlide2.xml" Id="R9a771364436e47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1cd3f423244c3" /><Relationship Type="http://schemas.openxmlformats.org/officeDocument/2006/relationships/notesSlide" Target="/ppt/notesSlides/notesSlide3.xml" Id="R9224130504e648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89e5055e84d39" /><Relationship Type="http://schemas.openxmlformats.org/officeDocument/2006/relationships/chart" Target="/ppt/slides/charts/chart1.xml" Id="R39475aefc34747c8" /><Relationship Type="http://schemas.openxmlformats.org/officeDocument/2006/relationships/notesSlide" Target="/ppt/notesSlides/notesSlide4.xml" Id="R44ffdf1ce91347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9fa3023644575" /><Relationship Type="http://schemas.openxmlformats.org/officeDocument/2006/relationships/notesSlide" Target="/ppt/notesSlides/notesSlide5.xml" Id="R357c747c2a7c45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ebaef35cb4042" /><Relationship Type="http://schemas.openxmlformats.org/officeDocument/2006/relationships/notesSlide" Target="/ppt/notesSlides/notesSlide6.xml" Id="R1aa7d801558d4f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2c9c0e3d94ceb" /><Relationship Type="http://schemas.openxmlformats.org/officeDocument/2006/relationships/chart" Target="/ppt/slides/charts/chart2.xml" Id="R2ddd922d2d6c441d" /><Relationship Type="http://schemas.openxmlformats.org/officeDocument/2006/relationships/chart" Target="/ppt/slides/charts/chart3.xml" Id="Rabae04409ec04550" /><Relationship Type="http://schemas.openxmlformats.org/officeDocument/2006/relationships/notesSlide" Target="/ppt/notesSlides/notesSlide7.xml" Id="R1cca3baf35a64b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c929b2f874823" /><Relationship Type="http://schemas.openxmlformats.org/officeDocument/2006/relationships/notesSlide" Target="/ppt/notesSlides/notesSlide8.xml" Id="Rd9d5f73574454b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79258d8b04230" /><Relationship Type="http://schemas.openxmlformats.org/officeDocument/2006/relationships/notesSlide" Target="/ppt/notesSlides/notesSlide9.xml" Id="Rf1bb70538c7041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58cd2ca6846eb" /><Relationship Type="http://schemas.openxmlformats.org/officeDocument/2006/relationships/notesSlide" Target="/ppt/notesSlides/notesSlide10.xml" Id="R0290cf8d82ff49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4d2b3f36b4c55" /><Relationship Type="http://schemas.openxmlformats.org/officeDocument/2006/relationships/notesSlide" Target="/ppt/notesSlides/notesSlide11.xml" Id="R65bb0d8d990448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aa4ba77884803" /><Relationship Type="http://schemas.openxmlformats.org/officeDocument/2006/relationships/notesSlide" Target="/ppt/notesSlides/notesSlide12.xml" Id="Ra258a6f46da641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8bc5ec34a4c4d" /><Relationship Type="http://schemas.openxmlformats.org/officeDocument/2006/relationships/notesSlide" Target="/ppt/notesSlides/notesSlide13.xml" Id="R719e8bb452d844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7649e4005454b" /><Relationship Type="http://schemas.openxmlformats.org/officeDocument/2006/relationships/notesSlide" Target="/ppt/notesSlides/notesSlide14.xml" Id="Rb568c60e66f74d14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tok/s</c:v>
          </c:tx>
          <c:spPr>
            <a:solidFill xmlns:a="http://schemas.openxmlformats.org/drawingml/2006/main">
              <a:srgbClr val="C7000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0"/>
              <c:pt idx="0">
                <c:v>TUBITAK GPT Other c90</c:v>
              </c:pt>
              <c:pt idx="1">
                <c:v>TUBITAK GPT Other c100</c:v>
              </c:pt>
              <c:pt idx="2">
                <c:v>Qwen3-VL Other c16</c:v>
              </c:pt>
              <c:pt idx="3">
                <c:v>GPT-OSS Heavy doc c64</c:v>
              </c:pt>
              <c:pt idx="4">
                <c:v>DeepSeek R1 Light chat c32</c:v>
              </c:pt>
              <c:pt idx="5">
                <c:v>Qwen 3.5 Light chat c16</c:v>
              </c:pt>
              <c:pt idx="6">
                <c:v>Qwen 3.5 Light chat c16</c:v>
              </c:pt>
              <c:pt idx="7">
                <c:v>Qwen 3.5 Doc summary c16</c:v>
              </c:pt>
              <c:pt idx="8">
                <c:v>DeepSeek R1 Other c10</c:v>
              </c:pt>
              <c:pt idx="9">
                <c:v>Qwen 3.5 Light chat c8</c:v>
              </c:pt>
            </c:strLit>
          </c:cat>
          <c:val>
            <c:numLit>
              <c:formatCode>General</c:formatCode>
              <c:ptCount val="10"/>
              <c:pt idx="0">
                <c:v>717.2195847709202</c:v>
              </c:pt>
              <c:pt idx="1">
                <c:v>705.7936329581999</c:v>
              </c:pt>
              <c:pt idx="2">
                <c:v>699.6511191858436</c:v>
              </c:pt>
              <c:pt idx="3">
                <c:v>600.7985915707469</c:v>
              </c:pt>
              <c:pt idx="4">
                <c:v>567.9368154753734</c:v>
              </c:pt>
              <c:pt idx="5">
                <c:v>461.23</c:v>
              </c:pt>
              <c:pt idx="6">
                <c:v>451.18642362817786</c:v>
              </c:pt>
              <c:pt idx="7">
                <c:v>362.09</c:v>
              </c:pt>
              <c:pt idx="8">
                <c:v>285.54332956846446</c:v>
              </c:pt>
              <c:pt idx="9">
                <c:v>280.05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4748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4748B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seconds</c:v>
          </c:tx>
          <c:spPr>
            <a:solidFill xmlns:a="http://schemas.openxmlformats.org/drawingml/2006/main">
              <a:srgbClr val="D9770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8"/>
              <c:pt idx="0">
                <c:v>GLM 5.1 Light chat c8</c:v>
              </c:pt>
              <c:pt idx="1">
                <c:v>Qwen 3.5 Heavy doc c4</c:v>
              </c:pt>
              <c:pt idx="2">
                <c:v>GLM 5.1 Long output c1</c:v>
              </c:pt>
              <c:pt idx="3">
                <c:v>GLM 5.1 Long output c1</c:v>
              </c:pt>
              <c:pt idx="4">
                <c:v>GLM 5.1 Long output c1</c:v>
              </c:pt>
              <c:pt idx="5">
                <c:v>Qwen 3.5 Doc summary c16</c:v>
              </c:pt>
              <c:pt idx="6">
                <c:v>TUBITAK GPT Other c90</c:v>
              </c:pt>
              <c:pt idx="7">
                <c:v>DeepSeek V4 Code gen c4</c:v>
              </c:pt>
            </c:strLit>
          </c:cat>
          <c:val>
            <c:numLit>
              <c:formatCode>General</c:formatCode>
              <c:ptCount val="8"/>
              <c:pt idx="0">
                <c:v>288.13048285375</c:v>
              </c:pt>
              <c:pt idx="1">
                <c:v>220.785</c:v>
              </c:pt>
              <c:pt idx="2">
                <c:v>196.794</c:v>
              </c:pt>
              <c:pt idx="3">
                <c:v>152.361</c:v>
              </c:pt>
              <c:pt idx="4">
                <c:v>146.006</c:v>
              </c:pt>
              <c:pt idx="5">
                <c:v>125.776</c:v>
              </c:pt>
              <c:pt idx="6">
                <c:v>110.52010953705758</c:v>
              </c:pt>
              <c:pt idx="7">
                <c:v>110.11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4748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4748B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seconds</c:v>
          </c:tx>
          <c:spPr>
            <a:solidFill xmlns:a="http://schemas.openxmlformats.org/drawingml/2006/main">
              <a:srgbClr val="C7000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8"/>
              <c:pt idx="0">
                <c:v>GLM 5.1 c8</c:v>
              </c:pt>
              <c:pt idx="1">
                <c:v>Qwen 3.5 c4</c:v>
              </c:pt>
              <c:pt idx="2">
                <c:v>Qwen 3.5 c16</c:v>
              </c:pt>
              <c:pt idx="3">
                <c:v>Qwen 3.5 c16</c:v>
              </c:pt>
              <c:pt idx="4">
                <c:v>TUBITAK GPT c90</c:v>
              </c:pt>
              <c:pt idx="5">
                <c:v>Qwen3-VL c8</c:v>
              </c:pt>
              <c:pt idx="6">
                <c:v>Qwen 3.5 c8</c:v>
              </c:pt>
              <c:pt idx="7">
                <c:v>Qwen 3.5 c8</c:v>
              </c:pt>
            </c:strLit>
          </c:cat>
          <c:val>
            <c:numLit>
              <c:formatCode>General</c:formatCode>
              <c:ptCount val="8"/>
              <c:pt idx="0">
                <c:v>252.72458314525002</c:v>
              </c:pt>
              <c:pt idx="1">
                <c:v>116.989</c:v>
              </c:pt>
              <c:pt idx="2">
                <c:v>105.05</c:v>
              </c:pt>
              <c:pt idx="3">
                <c:v>91.364</c:v>
              </c:pt>
              <c:pt idx="4">
                <c:v>87.68648519727867</c:v>
              </c:pt>
              <c:pt idx="5">
                <c:v>71.10390594536729</c:v>
              </c:pt>
              <c:pt idx="6">
                <c:v>50.781</c:v>
              </c:pt>
              <c:pt idx="7">
                <c:v>48.372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4748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4748B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E054D7-22B2-4D0D-939B-C357B418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E765C-D341-4644-8A02-FCE95AD0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45CFB-4C8C-40B3-B635-AEBD3C74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E45C2-1454-4E7E-B8DE-4FF72A91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HUAWEI CLOUD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A9537-EA9C-4810-BE12-15832D16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429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LLM Serving Benchmark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C93DD-E21F-463C-87F6-1ADC211F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0400"/>
            <a:ext cx="657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Customer-readable performance narrative with technical appendix for senior developers.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C423F-0783-4158-AE53-4E1E7CE4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Customer-ready technical benchmark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D17BF-E631-4940-8BB6-69CE5005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1054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MaaS + ModelArts</a:t>
            </a:r>
          </a:p>
        </p:txBody>
      </p:sp>
    </p:spTree>
    <p:extLst>
      <p:ext uri="{BB962C8B-B14F-4D97-AF65-F5344CB8AC3E}">
        <p14:creationId xmlns:p14="http://schemas.microsoft.com/office/powerpoint/2010/main" val="7608679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F58744-9E98-4DB5-8120-88DDD202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6C1E6-5190-44CD-9ED9-9B9A5556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6EDD9-09DC-4690-837E-A1FAAF8C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HUAWEI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84481-BC7D-4078-8743-8401ABBB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90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Executive takeaway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30482-DAD1-4C91-80DD-61B3C194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The fastest configuration is not the only decision point; workload, concurrency, and tail latency determine the right serving profile.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7A7B7-AAF0-4BBC-A5F1-2A6C8FED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6DA2A-5140-4137-AF24-3CB2885B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24765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C2D1D-E25D-4ED2-8C24-BF0AE4E8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EE651-E6CD-4A78-8F51-EB887E64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10F64-64B6-4306-8598-32B97DC1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72 runs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FA3FA-3C79-4372-9F38-335EE829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2,789 total requests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65EAA-960B-4CDD-BF5E-A83544EB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28750"/>
            <a:ext cx="24765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A4DB3-2A9C-4441-9D4A-376DF922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287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65FAF-04EF-445E-901D-CA858258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811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Peak throughput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9709A4-2577-4416-877F-D50411F9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38325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717 tok/s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2B6592-2584-4C5C-82DE-5E273624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860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TUBITAK GPT Other c90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792187-0D20-4B8C-B008-AF2A73DB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24765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0B17A-52E5-4378-8003-6E11456B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6C0DB1-D27F-4A9A-B646-84268B54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616DD2-9058-4C6A-8819-D3152D58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38325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62/72 clean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FE274B-BE7D-4510-8B7A-B086514F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Zero-error normalized runs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B12AE5-593F-4FAE-96C8-904F191D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28750"/>
            <a:ext cx="24765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BD5D48-DB20-4197-BACA-1D5991B0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287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A66A0C-A06C-4188-8FFC-31F87F1C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5811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New coverage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33FE37-2583-4EBA-BFB1-9EC963BD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38325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 + GLM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19D0A2-31C7-477B-81B1-C739EF39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860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MTP and maxseq16 scenarios added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C11AFE-17A7-467E-91A8-43E13040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3B18A9-5FB5-4609-935A-63F80C05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71850"/>
            <a:ext cx="960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Use throughput for capacity planning, but use P95 latency and TTFT for customer experience promises.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EAE778-99CF-44A2-9C29-83E00B45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052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C8E082-907D-493C-AD92-E7B69497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38600"/>
            <a:ext cx="960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DeepSeek V4 Flash W8A8 MTP adds clean ModelArts coverage for chat, summarization, heavy documents, and code generation.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0F5468-4246-4820-A7EC-8CED75A5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20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07C23C-D4A9-4C49-9CCC-771CD9C3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05350"/>
            <a:ext cx="960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GLM 5.1 maxseq16 DP1/DP2 results show scaling trade-offs that are workload-specific rather than universally linear.</a:t>
            </a:r>
          </a:p>
        </p:txBody>
      </p:sp>
    </p:spTree>
    <p:extLst>
      <p:ext uri="{BB962C8B-B14F-4D97-AF65-F5344CB8AC3E}">
        <p14:creationId xmlns:p14="http://schemas.microsoft.com/office/powerpoint/2010/main" val="1084771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54DECD-B16D-428D-BD9A-EEA620B0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8ABBC-51E2-4739-8753-A7EBB753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5096F-2753-48CB-A12C-0F100D38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HUAWEI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A7B77-34FA-4A12-AD12-C74A4B4A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90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Benchmark topology and how to read the numbers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F7BBE-C791-4440-8B43-F3F36D59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Every benchmark row carries platform, model, DP/TP topology, concurrency, request count, and input/output token target.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C80A5-BA00-4379-8838-9D7BA07A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E7940-D563-4B71-AAE3-CC7831C7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495300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8FBC9-3BF9-4073-B006-959B473D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Serving surfaces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20905-2254-417E-A3F1-A6FAE970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145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B80FD-B626-46C2-9EF7-84BFC449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47900"/>
            <a:ext cx="37909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ModelArts: 62 normalized runs with DP/TP metadata when encoded in filenames or summaries.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E35F14-039E-44F7-9D53-DBF32643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AD201-79E1-47D7-A8D9-FEC8DEB9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37909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MaaS: 10 normalized runs; topology not exposed in artifacts, reported as n/a.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6A4BD-4B21-4B19-B0A8-F6D09D94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718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BC8B7-32A6-40C2-B2F6-0F03D321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37909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DeepSeek R1 TP16 is annotated as DP1 over two nodes per deployment note.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3B912-8FD0-484C-BB6F-040FFF7C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28750"/>
            <a:ext cx="495300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CE8396-CFEF-4818-8FCF-95464FE7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Metric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AC338B-0036-44D1-A598-CB7A39FC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145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F666E-8764-41E0-B546-F343AA76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37909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Aggregate tok/s = successful generated output tokens over observed wall-clock duration.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30F81B-C414-4BA3-BC3E-D30552D6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432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800719-A549-4F06-A21F-3CB3FEA3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76550"/>
            <a:ext cx="37909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P95 latency captures tail completion time; P95 TTFT captures first-token responsiveness.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3D4468-45E6-4C4C-AB8E-8B4883B5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718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FC4F79-D00B-4328-9593-DB9C0576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05200"/>
            <a:ext cx="37909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For raw CSVs, concurrency is derived from filenames or peak overlapping request windows.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27FF6-C413-4E19-912B-BB3D1EA0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This keeps the main deck readable while preserving exact technical fields in the appendix matrix.</a:t>
            </a:r>
          </a:p>
        </p:txBody>
      </p:sp>
    </p:spTree>
    <p:extLst>
      <p:ext uri="{BB962C8B-B14F-4D97-AF65-F5344CB8AC3E}">
        <p14:creationId xmlns:p14="http://schemas.microsoft.com/office/powerpoint/2010/main" val="2223858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3D0C08-B9B1-4383-9831-DC5A4906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73B83-275E-4A4D-AA8D-0EB8084D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5730F-BBCA-4E8B-8A30-339A3C7B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HUAWEI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7B735-56E2-4510-9E52-1CC672F1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90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Throughput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29813-AA4F-4FEC-81F9-0749C085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Top aggregate output-token throughput across MaaS and ModelArts.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88399-C3B5-471B-A06A-EAE30233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0914E-8FBC-46FE-B46B-C32722F0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191250" cy="4333875"/>
          </a:xfrm>
          <a:prstGeom xmlns:a="http://schemas.openxmlformats.org/drawingml/2006/main" prst="roundRect">
            <a:avLst>
              <a:gd name="adj" fmla="val 1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53AA5-5FE9-4F1B-967E-85E69E7E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573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Top 10 output throughput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971550" y="1971675"/>
          <a:ext xmlns:a="http://schemas.openxmlformats.org/drawingml/2006/main" cx="5619750" cy="3438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475aefc34747c8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8C79A-D3E0-4FAE-9278-14F36088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381125"/>
            <a:ext cx="3429000" cy="4333875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51281-0254-49DB-9C91-14C83C93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6954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this means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9331F-023D-465C-A545-7685927A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098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7C323-9FA8-447D-B3C6-94B6DA25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22669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High concurrency can produce strong aggregate throughput while still creating long tail latency.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8A26EB-478D-430C-A551-D008BA1E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527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5CCBF8-C3CD-4C07-BA42-9AA0319A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86100"/>
            <a:ext cx="22669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Throughput leaders are useful for capacity sizing, not sufficient for interactive SLO design.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2CD5F-0868-4CD2-98BE-3A013534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957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934B98-3FDE-4A68-AF79-E45845C4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29050"/>
            <a:ext cx="22669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Customer-facing model selection should filter by workload class before ranking raw tok/s.</a:t>
            </a:r>
          </a:p>
        </p:txBody>
      </p:sp>
    </p:spTree>
    <p:extLst>
      <p:ext uri="{BB962C8B-B14F-4D97-AF65-F5344CB8AC3E}">
        <p14:creationId xmlns:p14="http://schemas.microsoft.com/office/powerpoint/2010/main" val="14778621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ED6431-3798-418F-B81F-B9605637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C9CF8-56DF-4373-A5DE-B0A71A00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9C622-1A02-414E-8AEA-30B09285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HUAWEI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FCC41-9799-4194-9599-5F10B0FF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90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DeepSeek V4 Flash W8A8 MTP: new ModelArts coverage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1A665-B0A1-47D3-AC66-428E4FC5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Clean DP1 results across light chat, document summarization, heavy document summarization, and code generation.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5E111-2543-4397-84C2-422E8CFB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6C336-C6A1-4E64-9782-AE2F14D2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5143500" cy="4095750"/>
          </a:xfrm>
          <a:prstGeom xmlns:a="http://schemas.openxmlformats.org/drawingml/2006/main" prst="roundRect">
            <a:avLst>
              <a:gd name="adj" fmla="val 1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056D3-E0CA-4622-B34B-FC8DDF1D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468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Best throughput by workload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52823-5872-433B-8461-DAD7DA53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00250"/>
            <a:ext cx="9525" cy="3067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5EF49-933C-4560-9405-B0D8C4DB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019" y="2000250"/>
            <a:ext cx="9525" cy="3067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2CA23-7F84-4DB9-BF8C-E2254F39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3" y="2000250"/>
            <a:ext cx="9525" cy="3067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A4C1F-5369-486C-B0D1-6FEB70DC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806" y="2000250"/>
            <a:ext cx="9525" cy="3067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860AA-943F-4D7A-A2A7-5BFB31A0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00250"/>
            <a:ext cx="9525" cy="3067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E761E-7507-4274-BB42-4EE72771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9413"/>
            <a:ext cx="1000125" cy="4447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Light chat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E140A-4196-41D0-9940-85158E7D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68938"/>
            <a:ext cx="3457575" cy="368046"/>
          </a:xfrm>
          <a:prstGeom xmlns:a="http://schemas.openxmlformats.org/drawingml/2006/main" prst="roundRect">
            <a:avLst>
              <a:gd name="adj" fmla="val 1552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F4D67-5054-4EA1-A269-82B7D5A3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59413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237 tok/s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29BA3-E89A-47A2-839E-DE0EF078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26175"/>
            <a:ext cx="1000125" cy="4447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Heavy doc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9AA8E-C948-42FF-8D28-DC2E5604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35700"/>
            <a:ext cx="1859491" cy="368046"/>
          </a:xfrm>
          <a:prstGeom xmlns:a="http://schemas.openxmlformats.org/drawingml/2006/main" prst="roundRect">
            <a:avLst>
              <a:gd name="adj" fmla="val 1552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907EE-6FA0-42F8-8C3E-EEC2C408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266" y="2926175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127 tok/s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76967-B08F-41AA-B6AD-97E12D5D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2938"/>
            <a:ext cx="1000125" cy="4447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Doc summary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7140F-AC09-4D77-9BAD-06556203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02463"/>
            <a:ext cx="1241170" cy="368046"/>
          </a:xfrm>
          <a:prstGeom xmlns:a="http://schemas.openxmlformats.org/drawingml/2006/main" prst="roundRect">
            <a:avLst>
              <a:gd name="adj" fmla="val 1552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1CE62B-6288-47F9-9C04-77A9A661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0945" y="3692938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85 tok/s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D43F48-4EFC-4869-AF31-A7558E07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9700"/>
            <a:ext cx="1000125" cy="4447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Code gen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6F374C-5659-4112-A7CB-3C4A1822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69225"/>
            <a:ext cx="1116016" cy="368046"/>
          </a:xfrm>
          <a:prstGeom xmlns:a="http://schemas.openxmlformats.org/drawingml/2006/main" prst="roundRect">
            <a:avLst>
              <a:gd name="adj" fmla="val 1552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78BAB2-D4DB-42F3-9CD5-3AB715B8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791" y="4459700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76 tok/s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FE7B63-DB42-4409-A348-8030FF0D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52550"/>
            <a:ext cx="5143500" cy="4095750"/>
          </a:xfrm>
          <a:prstGeom xmlns:a="http://schemas.openxmlformats.org/drawingml/2006/main" prst="roundRect">
            <a:avLst>
              <a:gd name="adj" fmla="val 1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1251DE-187C-4EC4-9DE0-12C9F6D5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24000"/>
            <a:ext cx="468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P95 latency for same best runs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5797D9-014C-45C1-912C-0E90C9DB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00250"/>
            <a:ext cx="9525" cy="3067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A935C0-A899-4224-A493-D6DAAA2A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519" y="2000250"/>
            <a:ext cx="9525" cy="3067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5CDBA9-21D5-48B7-92EA-26263278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2000250"/>
            <a:ext cx="9525" cy="3067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34BF64-6303-4257-9881-8A780146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0306" y="2000250"/>
            <a:ext cx="9525" cy="3067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4A3196-94F8-4545-AD8B-CEA705D5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000250"/>
            <a:ext cx="9525" cy="3067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5AD9C-1F04-4C30-8779-C4905729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9413"/>
            <a:ext cx="1000125" cy="4447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Light chat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6F28B2-6509-46EE-9C5B-1360BEF2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68938"/>
            <a:ext cx="2005211" cy="368046"/>
          </a:xfrm>
          <a:prstGeom xmlns:a="http://schemas.openxmlformats.org/drawingml/2006/main" prst="roundRect">
            <a:avLst>
              <a:gd name="adj" fmla="val 15528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E5A9B6-393B-4445-AABF-881F54BC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486" y="2159413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63.9s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521143-3EDE-45B9-A693-8DCB0DE6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26175"/>
            <a:ext cx="1000125" cy="4447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Heavy doc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4C7C32-39BD-4340-B12B-5F2729E6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35700"/>
            <a:ext cx="1823054" cy="368046"/>
          </a:xfrm>
          <a:prstGeom xmlns:a="http://schemas.openxmlformats.org/drawingml/2006/main" prst="roundRect">
            <a:avLst>
              <a:gd name="adj" fmla="val 15528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095141-1664-48E4-8E94-BC57D202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29" y="2926175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58.1s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3AA8E6-EB92-4A61-B313-1FB1F3B9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2938"/>
            <a:ext cx="1000125" cy="4447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Doc summary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3B4AF3-7726-456F-8838-0A01E3DB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02463"/>
            <a:ext cx="807165" cy="368046"/>
          </a:xfrm>
          <a:prstGeom xmlns:a="http://schemas.openxmlformats.org/drawingml/2006/main" prst="roundRect">
            <a:avLst>
              <a:gd name="adj" fmla="val 15528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2BEA2C-A68F-44C6-9734-2EF5DA2A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440" y="3692938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25.7s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56442A-4614-4F33-840B-C667A7AB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9700"/>
            <a:ext cx="1000125" cy="4447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Code gen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478218-801E-4AE3-A881-11B50115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69225"/>
            <a:ext cx="3457575" cy="368046"/>
          </a:xfrm>
          <a:prstGeom xmlns:a="http://schemas.openxmlformats.org/drawingml/2006/main" prst="roundRect">
            <a:avLst>
              <a:gd name="adj" fmla="val 15528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226634-759E-46EF-B59A-A2ECF430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4459700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110s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98F048-5555-4C57-99B1-2943B597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Senior-dev note: code generation uses 2k input / 4k output and behaves differently from 1k/1k chat; compare by token profile before drawing model-level conclusions.</a:t>
            </a:r>
          </a:p>
        </p:txBody>
      </p:sp>
    </p:spTree>
    <p:extLst>
      <p:ext uri="{BB962C8B-B14F-4D97-AF65-F5344CB8AC3E}">
        <p14:creationId xmlns:p14="http://schemas.microsoft.com/office/powerpoint/2010/main" val="3743153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080A43-95B2-4175-BC2C-62F81DD5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BE2FB-3D4F-428D-9E2F-C7197992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5C130-F5AF-494C-948A-A7736DB7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HUAWEI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8D817-B73C-425B-95BD-2B67A6DF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90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GLM 5.1 maxseq16: DP1 versus DP2 is workload-dependent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DDE76-C275-4BA7-A668-85860C14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DP2 does not dominate every workload; some single-request and doc workloads favor DP1 in this dataset.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398E9-637C-4B79-BB45-BF79224E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00B49-6D39-4865-8835-AD695249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5143500" cy="4095750"/>
          </a:xfrm>
          <a:prstGeom xmlns:a="http://schemas.openxmlformats.org/drawingml/2006/main" prst="roundRect">
            <a:avLst>
              <a:gd name="adj" fmla="val 1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88596-40A5-474A-A3E3-278673EC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468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Best throughput by DP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AB880-300B-4292-B3EF-7C50626B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19300"/>
            <a:ext cx="40957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E0851-6548-4DAB-BC83-D6B234E6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54483-6630-4397-99C7-6FACC769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1769"/>
            <a:ext cx="40957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7F05E-6DAE-40C3-9D50-98D4E1F4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55094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179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2D4CA-F08F-4F53-8F05-244EFE88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4238"/>
            <a:ext cx="40957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D55CC-F8C1-49C2-B53A-052A1EEF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7563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12549-1923-4B31-AFC2-58A36970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26706"/>
            <a:ext cx="40957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F3B69-7118-4216-B797-8A252717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60031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885B7-C4D9-4966-BF57-689F01D0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40957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69EF3B-93B0-4E80-9F8F-70D21414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B86FE-C52B-40DC-83C2-616626A8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019300"/>
            <a:ext cx="209550" cy="28098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B214B-351C-47B7-A260-80232CDA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126997"/>
            <a:ext cx="209550" cy="2702178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CF67F5-24E8-4BE7-B2BD-C8948788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24425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Light chat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9A797-9D7A-4BBF-B0B4-3473849E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488493"/>
            <a:ext cx="209550" cy="234068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02648D-9A2C-4E0A-8194-3E29CB9B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892270"/>
            <a:ext cx="209550" cy="193690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21230A-2447-4BDF-B3B1-DB7AAF96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24425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Doc summary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42E912-AE16-4A18-8440-A3BEBEC5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049692"/>
            <a:ext cx="209550" cy="779483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1EE3E9-4BD7-4F74-8E36-AED3880F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171717"/>
            <a:ext cx="209550" cy="657458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53CA97-289C-4A0A-B051-75E405B7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24425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Heavy doc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362DF2-3B3B-4D8C-BEA9-BBB87E32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635273"/>
            <a:ext cx="209550" cy="193902"/>
          </a:xfrm>
          <a:prstGeom xmlns:a="http://schemas.openxmlformats.org/drawingml/2006/main" prst="roundRect">
            <a:avLst>
              <a:gd name="adj" fmla="val 29474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D19AE7-8384-4A3B-B421-9E750ADC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85657"/>
            <a:ext cx="209550" cy="143518"/>
          </a:xfrm>
          <a:prstGeom xmlns:a="http://schemas.openxmlformats.org/drawingml/2006/main" prst="roundRect">
            <a:avLst>
              <a:gd name="adj" fmla="val 3982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F8E47C-035A-4155-AE32-874E076D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24425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Code gen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7F2972-3BB1-4CA5-9D14-D4528BED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646313"/>
            <a:ext cx="209550" cy="182862"/>
          </a:xfrm>
          <a:prstGeom xmlns:a="http://schemas.openxmlformats.org/drawingml/2006/main" prst="roundRect">
            <a:avLst>
              <a:gd name="adj" fmla="val 312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F11763-C45C-4049-BEF5-0ADB52C9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687066"/>
            <a:ext cx="209550" cy="142109"/>
          </a:xfrm>
          <a:prstGeom xmlns:a="http://schemas.openxmlformats.org/drawingml/2006/main" prst="roundRect">
            <a:avLst>
              <a:gd name="adj" fmla="val 4021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480E4D-296D-4157-8446-57A07117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24425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Long output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A0C40F-47A2-4835-B62B-DF318407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24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77CB93-F3B5-4751-9435-98F87BF0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8635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DP1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7BF82B-B1E5-416E-B68B-41F0048E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124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A8ACA3-8495-4552-BD93-BFF4E230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8635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DP2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606A83-C225-47F2-9B14-603B74A1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52550"/>
            <a:ext cx="5143500" cy="4095750"/>
          </a:xfrm>
          <a:prstGeom xmlns:a="http://schemas.openxmlformats.org/drawingml/2006/main" prst="roundRect">
            <a:avLst>
              <a:gd name="adj" fmla="val 1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47E44B-17AF-4FE7-A2C1-795BC2D5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24000"/>
            <a:ext cx="468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P95 latency on best-throughput runs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D44F58-3836-46D8-9BB8-505CBBF2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19300"/>
            <a:ext cx="40957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DCEFBB-1CED-4BC1-96C1-88F81BBD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197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9B1E53-D561-4067-B8AF-7FCA490E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21769"/>
            <a:ext cx="40957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845AEA-55E7-4AD8-8929-3113AD29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55094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148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4DC314-88BD-46FF-BDD5-D597CF79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24238"/>
            <a:ext cx="40957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357850-60CF-4421-B85A-D3E45A5E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7563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3BBAEF-2406-4862-B149-BC5ABCC7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26706"/>
            <a:ext cx="40957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490048-4C76-4C65-BF47-F5620787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60031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C459F7-9D13-4BF5-9195-66DC9923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29175"/>
            <a:ext cx="40957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73CE6C-ABEA-481C-93CE-A3630B0D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B67037-423C-4255-8992-738C66BD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946293"/>
            <a:ext cx="209550" cy="88288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ED02F4-A83B-499B-8CE6-507ED26F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945608"/>
            <a:ext cx="209550" cy="883567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92DE45-93A6-4261-AA14-0C8D7842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24425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Light chat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39439B-C4F0-42AD-A2AC-89D444F5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15523"/>
            <a:ext cx="209550" cy="121365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ACDC1F-F44F-4A10-8478-92FEFDAC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391426"/>
            <a:ext cx="209550" cy="1437749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FA70A8-38CD-4A7D-BE54-2365BEFB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24425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Doc summary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FF7B9E-A511-4C32-B94B-2499F072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049425"/>
            <a:ext cx="209550" cy="779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4199ACF-D47F-45C6-8CD2-3B7C5E1F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887710"/>
            <a:ext cx="209550" cy="94146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617B4C5-AFF3-44CD-B300-2FB4BCA3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24425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Heavy doc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E07FA50-0B47-45D8-8646-1F936FC7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260458"/>
            <a:ext cx="209550" cy="568717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1AA26B7-F58F-4ADB-A6DD-9DC1DE5F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86049"/>
            <a:ext cx="209550" cy="743126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D9E251-F644-44A3-B6B3-52432C3A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24425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Code gen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7CA2C53-3233-4085-8437-4D144F97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44464"/>
            <a:ext cx="209550" cy="2084711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5904EA2-730A-47F5-8200-6CBF2EC6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019300"/>
            <a:ext cx="209550" cy="28098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9FFC6AA-E499-4F68-8F80-A0128281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24425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Long output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973DC7E-D2F1-41B3-8B2F-6B9E0CE7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24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B74A736-17BB-429B-9A0A-182A2F71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08635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DP1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F6148D0-1401-474D-9152-508485DE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124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6028525-ED85-4A93-A0C1-47F4D80B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08635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DP2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50C9DDA-99A7-4D8A-8D91-F9984267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1000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Interpretation: treat DP as a tuning dimension tied to sequence length, concurrency, and workload mix. Do not promote one DP setting globally from a single aggregate chart.</a:t>
            </a:r>
          </a:p>
        </p:txBody>
      </p:sp>
    </p:spTree>
    <p:extLst>
      <p:ext uri="{BB962C8B-B14F-4D97-AF65-F5344CB8AC3E}">
        <p14:creationId xmlns:p14="http://schemas.microsoft.com/office/powerpoint/2010/main" val="12210235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8E8F67-A866-4ED2-A819-C97C18C8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5193A-80AE-4842-A74C-9DBF6F99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E7B35-847C-4265-99EA-EC2A6838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HUAWEI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7F37D-0F88-4C43-AE9B-36E1DD1A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90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Latency and responsiveness 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20281-4865-4369-9B44-1D63C573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P95 completion latency and P95 TTFT expose different user-experience risks.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BC4DD-5AA2-4A21-B8C1-08039F24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1E75F-F0AE-49AC-85EF-A9FF422F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191250" cy="4333875"/>
          </a:xfrm>
          <a:prstGeom xmlns:a="http://schemas.openxmlformats.org/drawingml/2006/main" prst="roundRect">
            <a:avLst>
              <a:gd name="adj" fmla="val 1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D789B-9695-40D7-A06B-2089EE4E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573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Highest zero-error P95 completion latency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971550" y="1971675"/>
          <a:ext xmlns:a="http://schemas.openxmlformats.org/drawingml/2006/main" cx="5619750" cy="3438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dd922d2d6c441d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53971-C888-42FE-910F-D4F3B07F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381125"/>
            <a:ext cx="3905250" cy="4333875"/>
          </a:xfrm>
          <a:prstGeom xmlns:a="http://schemas.openxmlformats.org/drawingml/2006/main" prst="roundRect">
            <a:avLst>
              <a:gd name="adj" fmla="val 14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4F444-E3B5-484F-9150-A4A1630F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52575"/>
            <a:ext cx="3448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Highest zero-error P95 TTFT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639050" y="1971675"/>
          <a:ext xmlns:a="http://schemas.openxmlformats.org/drawingml/2006/main" cx="3333750" cy="3438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ae04409ec04550"/>
          </a:graphicData>
        </a:graphic>
      </p:graphicFrame>
    </p:spTree>
    <p:extLst>
      <p:ext uri="{BB962C8B-B14F-4D97-AF65-F5344CB8AC3E}">
        <p14:creationId xmlns:p14="http://schemas.microsoft.com/office/powerpoint/2010/main" val="11584184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6E4F9B-C976-438E-B41F-5D006AAB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93ED3-C432-4C54-8CF0-D8AE7133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49270-5DF8-4D5D-8A50-38431300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HUAWEI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2B1B0-9852-4C10-97B6-E3F137B2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90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Reliability and caveats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B4979-CD1D-41C3-B0B3-4F07A2B7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Failed runs are operational evidence; they should remain visible but separated from model quality claims.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DD6F9-E3AB-4AC8-9C1D-766133A3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C262D-6F46-4EF2-B9F4-C436CD6B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2476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F577A-B481-47A3-B4FA-67FE6545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8BF55-9B29-4FC9-BAA8-7A03675F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Zero-error runs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2C5A8-8A72-4927-AE9A-89071BE7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62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8AE60-2480-4332-B87F-1A80417A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10 runs have failures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040CA-567A-4018-9ABC-A02C725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52550"/>
            <a:ext cx="2476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042F6-E3D6-48C0-A8FD-59C568CE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525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5BC8C-1949-4F3E-9815-7BF67D9C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049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MaaS failed probes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57812-DB9F-4C96-B4EF-E245DF46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08C22-99B0-4A21-95F5-C9169B3C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098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Connection/rate-limit patterns retained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E658B-6284-4E55-96E5-367101C6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52550"/>
            <a:ext cx="2476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DFB4EB-FF8B-4BC8-8008-B840A2D0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525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16BF2-3CF7-4F8A-A7D7-D4004EFF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049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New MTP runs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889004-AD1E-4E15-9D0E-30CFAFCB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E1DD32-F19E-4E59-8371-6C3DC0B4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All zero-error in summaries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FA7FA0-9DA3-46FA-BDB1-8F284739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52550"/>
            <a:ext cx="2476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A321C1-5CA5-4F44-8FEA-DC1C3B41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525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05851B-C327-4D3B-AC72-4DE88255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049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TP16 DeepSeek R1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4FB22C-0E65-4FB8-A475-79919B29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62125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 rows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AE2DFC-B3F9-4DE8-A1F0-2BFDEC60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DP1 across two nodes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8FD5C1-08B2-4920-B391-FA4DEF62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0287000" cy="2428875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0FFB7C-B37F-4469-8721-2558D4E0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994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Highest error-rate rows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46BAC8-DC13-4376-94FB-F12C0718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994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BD5DEF-097E-4BE8-9FFC-B84D509D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67125"/>
            <a:ext cx="1581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0C25EA-63B8-480C-B064-0C2D4918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67125"/>
            <a:ext cx="1581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166F22-9FEE-4D00-A88E-F7BBFA5B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67125"/>
            <a:ext cx="1581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297075-E061-414A-B68E-8E15AE5D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67125"/>
            <a:ext cx="1581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F1DE27-C0B9-4A10-A5B8-D62DC06A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67125"/>
            <a:ext cx="1581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F21FA7-BA81-4812-91C1-0E7002A8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67125"/>
            <a:ext cx="1581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Err 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986DD9-FF43-4A1E-AC72-5A5CC134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14775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306860-BD10-43F8-9FF3-6D87CBEC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14775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0E0132-E192-48F2-8B51-6B74B7E7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14775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Other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BCC161-6F01-4F7B-9A07-DCC25D04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14775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F3D69A-0A76-469F-A100-51EEF11C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14775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F20170-B0A6-4683-9237-2464ED25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14775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7000B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C7000B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803B3C-F65C-4375-9CB6-63626A44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0747"/>
            <a:ext cx="9944100" cy="2035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092933-711B-4D83-AB42-DC366649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18372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8F6730-7838-46D9-8AE5-8E2129D5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118372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F17ECE-E78F-47A3-B895-8AAE289A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8372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Other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3F5A75-FA35-4E32-A239-E0029076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18372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901CDC-A227-4923-951D-6B6D0D6D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18372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007B8F-0424-487A-BDAA-253BAA61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18372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7000B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C7000B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B5434C-CEA6-4EB3-A9F1-1DD0CCAB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1969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MaaS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F6E756-178F-43DE-A423-1B41162C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21969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qwen3-32b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93E8F1-9602-4E1F-9AF9-7999CED2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1969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Other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E1EE879-75CA-4AAB-BB2D-C09B3258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1969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73EBC4D-E142-4834-9A32-CCFE137F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21969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84977B-E0C4-44DA-98CE-00B9C3B7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21969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7000B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C7000B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8698338-E02B-488B-AF98-D4A663D7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7941"/>
            <a:ext cx="9944100" cy="2035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E29DCF-DC08-454D-82C9-43435DDD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25566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MaaS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AAE19A-9094-4636-8A4D-404F9809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525566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E828A01-DE32-4AA5-8EEF-8B603584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25566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Other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DCF49CB-5ED2-48E6-A76A-64279449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25566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4321B2A-E7E9-4D1D-B255-CD7E2AE5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25566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22015C-BFB5-4D44-A080-89B1C488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25566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7000B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C7000B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6505D7A-E653-4EA4-9AA5-224A42BE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29163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MaaS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53A3609-F254-428D-BF34-B7D62ED1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29163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D257004-E96B-4890-87FB-6E2F21FB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29163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Other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418259E-558E-4440-8389-4F27739E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29163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19B2E64-202B-49B5-B6A1-8D2FB10A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29163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004AEB5-5459-4A3B-9F39-394D8555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29163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7000B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C7000B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34415B0-D252-4E4E-9C02-DB5C025C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85134"/>
            <a:ext cx="9944100" cy="2035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D093FAB-E63E-4378-B254-287151B6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32759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MaaS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DFDA5BD-BD8C-4483-A14B-06B6D74E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32759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7EE9AC0-C663-461E-ACB2-21C202CF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32759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Other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7130168-CF13-42CB-890E-C02A4870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32759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561CFD0-D957-49FC-9BA6-E58302E0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32759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509FA3D-902D-4627-9E68-4508C754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32759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7000B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C7000B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01DFE9F-B9CB-43F7-BAA0-76AD07E5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36356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MaaS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067ADBA-9136-43C2-9095-E64E7CF3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136356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55A340B-A520-4F4A-973A-84C852F2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36356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Other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EA9F238-5244-419B-BCDF-9C458646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36356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C8FABCF-406C-4205-866D-123E4D82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36356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878DDBE-9FF5-41BB-9AEE-88661824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136356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7000B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C7000B"/>
                </a:solidFill>
                <a:latin typeface="Arial"/>
                <a:ea typeface="Arial"/>
                <a:cs typeface="Arial"/>
              </a:rPr>
              <a:t>60.0%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390D832-953C-4251-8D94-585DE1E3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2328"/>
            <a:ext cx="9944100" cy="2035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1C69B11-582C-4008-B63D-F6BAB038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39953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MaaS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35A7305-47DA-4784-8933-7C4811FF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39953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D243D9E-AAE5-4978-B093-34E4581A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9953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Other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4DC64DC-5934-4742-9691-70D94148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39953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CECA169-D499-442B-AD6D-F8A39862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339953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74D8194-3C07-4F44-AC24-72CF3E02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339953"/>
            <a:ext cx="1581150" cy="184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7000B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C7000B"/>
                </a:solidFill>
                <a:latin typeface="Arial"/>
                <a:ea typeface="Arial"/>
                <a:cs typeface="Arial"/>
              </a:rPr>
              <a:t>20.0%</a:t>
            </a:r>
          </a:p>
        </p:txBody>
      </p:sp>
    </p:spTree>
    <p:extLst>
      <p:ext uri="{BB962C8B-B14F-4D97-AF65-F5344CB8AC3E}">
        <p14:creationId xmlns:p14="http://schemas.microsoft.com/office/powerpoint/2010/main" val="476639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EF774E-3B54-4577-8DF6-0B37E6B2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E58BD-B418-4E36-A6E1-C00872E3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BEA2E-A92A-46DD-84A0-F5486269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HUAWEI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4C850-F3D4-45B8-B2AD-15FE675A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90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Technical appendix: topology-sensitive rows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C1B1C-7B16-4950-99DC-32D5CCAE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Rows senior developers usually ask for first: DP/TP, concurrency, requests, token shape, throughput, and tail latency.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23DD0-3149-4DFC-8F57-1C714843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5F571-C82F-4E48-BCD6-441D2DDE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34750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13503-6F0F-4AA5-A04B-6DC30892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0991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Selected technical matrix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64A57-50DD-4337-8739-D1CEC5CF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991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83367-B0E8-424B-BBE9-90367279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92305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D50F6-0C27-48AB-90BB-299C7C0A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1724025"/>
            <a:ext cx="92305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51190-B952-4C19-A170-65BDFCB1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1724025"/>
            <a:ext cx="92305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271BA-CF33-4825-A87B-23AB9DE6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1724025"/>
            <a:ext cx="92305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2BBFD-CED6-403B-9A33-9CD99192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1724025"/>
            <a:ext cx="92305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3D9CA-DF84-4C1D-B7D6-133CF54B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1724025"/>
            <a:ext cx="92305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2800A-47BD-4E4D-84F6-23AB202E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1724025"/>
            <a:ext cx="92305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A5509-38FD-45B5-9E3F-C70D04CD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1724025"/>
            <a:ext cx="92305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In/Out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2C26C-22FE-4C26-8F73-3538032D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1724025"/>
            <a:ext cx="92305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Tok/s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E6A843-CF2C-4E01-A642-2F165519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1724025"/>
            <a:ext cx="92305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TTFT95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71D2D8-E2E2-4945-8472-9FB342D1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1724025"/>
            <a:ext cx="92305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Lat95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B850C-50BD-47BB-A0EE-DD63B15E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716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0C4618-B208-4780-A671-B36418AD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19716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doc_summarization_4c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E1B007-6143-4BC7-9D32-F40C7727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19716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543AAD-C7F6-4D13-8539-8521EDC2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19716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07B536-DCCF-403E-B97E-4FAA8861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19716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A24C8B-8845-4FCF-9ADF-1EC668CB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19716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F5156C-6CBB-4FB3-A2B8-3EE9F59D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19716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59EA21-78E3-4BA9-B50D-75386F26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19716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4,096/1,024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E30DA7-3C24-4C87-8750-98AEEC8B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19716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85.0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3E4EB6-DC9B-489C-B364-4B0D0A28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19716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3.9s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5542E4-3F53-4EBC-AA3B-EFEC9C83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19716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25.7s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6EE3A6-D7BB-433A-9F50-4A0AB6CD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4767"/>
            <a:ext cx="10991850" cy="2307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E9FE11-9B7F-4DA1-992B-F114F425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23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88CA23-EAB2-4B97-91C5-188A9CD7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22023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heavy_doc_summarization_4c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637617-DE88-443A-BB6E-79C4A6C7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22023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89F31D-831E-497C-9A5F-E888ED72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22023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95DDB8-B453-4363-8B8D-387B055A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22023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E2DAA5-FD49-4117-BE72-8B578649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22023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1F77F8-CDEA-4ABA-AC9C-9FAC64DA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22023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C359EE-90FA-4566-BB81-E7AFE7F4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22023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8,192/1,024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258FB0-339C-4C98-9475-BA65774F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22023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72.8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7E43CA-CA97-4688-8762-0A189285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22023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10.4s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84FAF9-16A3-4F59-BACE-4B79292F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22023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38.1s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7B3E25-7E85-42F0-A957-4F4E7C48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31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1DB7F5-86FB-401E-8EA2-62AD1B79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24331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code_generation_1c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FE64EC-CF0F-4C09-9E04-D60847B8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24331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21BCB2F-9195-43D3-B5E7-4300FFAC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24331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A2854C-19B2-43B4-B087-EAD78CB1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24331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8296F7-9DFF-4B83-A334-CDC12E44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24331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AAADAA-C02A-45A9-9E98-F41F3553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24331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AA047E-A9C1-4A7F-A3B4-531675D3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24331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2,048/4,096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1017724-D2D8-4971-8BC0-FE371937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24331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29.5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0F31B5B-F487-4018-B394-9C184792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24331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0.7s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8C86FC-0DCD-4E10-B9AE-47B2628B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24331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107s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EE9C2E7-82FB-4AC8-8600-D4B4E700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6200"/>
            <a:ext cx="10991850" cy="2307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45DE80A-A355-46FF-9B32-3D340C2F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38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F3D34B-499B-4799-9991-719AEA45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26638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light_chat_16c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18B590B-F11D-4A0D-866E-DC852ECE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26638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C44945C-49C3-4CBD-92A1-7718592A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26638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06ADFD1-16A5-445B-89EE-41F8B9A0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26638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D0607E0-C9C1-4CB5-8FF8-F4812BC4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26638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C663B97-9A06-47BF-AE1B-D6FFA77D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26638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6771827-02D8-4D0E-A2AD-24F58CEF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26638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1,024/1,024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396767B-E42D-40D8-A05E-1445DD05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26638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237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13A758F-A9B4-47D0-A19F-966DDF03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26638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12.1s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009E418-8708-429A-81CD-C7619537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26638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63.9s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ABA6496-C877-44BE-A359-4E1B78B8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45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2087724-2797-4B2E-91F2-73BFF00A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28945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code_generation_4c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6EFB555-9022-409F-8432-82841108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28945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0749C21-85DF-47B0-B3E4-F8BC6A43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28945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3FF5BFD-B7D2-4311-8B98-75D93F30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28945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6863B9C-466F-460D-B8D9-431EDF7C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28945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AD91E95-1168-4D7A-B29D-AD7BDFD8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28945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9531F93-EA57-4C7A-8517-BD38767B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28945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2,048/4,096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8CB7DFD-ECD0-4F39-90CB-CB176274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28945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76.4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A9BFECE-9090-4789-B22D-699B638A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28945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4.4s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88185A9-B619-4ECC-B7B6-C73E077A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28945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110s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E3E9F41-AF75-48F9-89E7-192990AA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7633"/>
            <a:ext cx="10991850" cy="2307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C71DF2C-F4BC-4455-9889-46CD88FE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52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F3BD643-5DAD-46E7-819B-CD99B11C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31252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heavy_doc_summarization_8c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F437704-0B8D-43C1-8A6A-63E2BCB2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31252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FD0D9AF-1933-46CA-AD54-AA92BC9C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31252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05C15B6-FBB1-43DD-B023-075C79E3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31252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F251359-8478-4649-B1BC-CF9A3E81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31252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2EB8ED8-187B-4E0B-84FA-B8FA4CD6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31252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5F6E532-50BA-4E4C-BD2D-A2006D07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31252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8,192/1,024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A2DE8AC-E55F-4427-B49B-B5552AA6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31252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127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FABEB8D-0D53-4E21-962D-A6764831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31252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16.3s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BFB269C-20CC-4001-BA9C-26E16F8A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31252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58.1s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26EFBFC-36B4-41C5-AFE9-F0A7B539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59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D49C0AB-AE73-40FC-836E-86A05602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33559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light_chat_1c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6480393-FE3A-4BC8-A65C-C40CC4E3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33559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8FD034B-9B8F-4D00-AC45-9090C442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33559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68707E4-2C5F-4885-81C0-1F1F8A1D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33559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B63E7C1-28FB-488E-875C-BBC9FAB9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33559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95B7E07-B474-450B-AB84-2D5DF3CF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33559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557DBE3-2D0A-4BC3-9C8C-F40420F6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33559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1,024/1,024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880931B-BB00-4AF8-95C5-A7A12EDC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33559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33.8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1BBBD67-34F9-41F2-BF79-8F2280E6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33559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0.6s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3AAE00D-13FB-439C-B1ED-E5F1064D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33559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33.1s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7B78793-D077-4CAE-8125-F09C3EC9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9067"/>
            <a:ext cx="10991850" cy="2307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4FBBBE7-7C33-41E2-A72D-19653BAB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66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D96DD26-86D6-4C48-BC35-1C9170E6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35866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light_chat_8c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C1F5146-6792-44E0-92D2-D7DC372A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35866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0314E34-6A6F-4318-AF47-1CE3D727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35866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5C4CDE1-0C9C-4386-9B5C-41ECF915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35866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C6D88B2-9856-444E-AF53-9B52A93D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35866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8739A22-3F30-4C94-BD69-182FB3E1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35866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9C7C3E9-7442-4D0F-93E4-2352747B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35866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1,024/1,024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1F1AD01-87BE-419E-B8B2-F9B49D9F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35866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134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D2C84A0-8EC1-4318-BC5D-4DF870CA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35866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13.5s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22762F7-026F-4F20-8B7D-61AF82E9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35866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65.8s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0B4B560-D4C6-426E-9E29-4AA36E47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74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B61483D-ECA8-4E67-94F4-3A5CB152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38174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doc_summarization_1c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C4E13D4-3395-4CB8-B20A-FF06331C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38174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3FA9299-BAAA-4F6C-9FAA-F1C10BBF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38174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C2D8159-8B4F-4BFE-B1B3-0681F5C3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38174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6A0ED2B-0135-4C3F-AE16-573B9AB1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38174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F64208C-A9D7-48AC-8FF7-5F84846A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38174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583DA22-3BB5-411C-91CC-471D40B7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38174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4,096/1,024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18123A7-E663-485E-92FB-D01502C4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38174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33.3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61B36F5-B93F-4A51-9567-8ECA11A5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38174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0.6s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36B5E20-465C-4AE9-B412-FFA33B37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38174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17.6s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8B767B6-B304-48FE-ABCA-3D7C2B3F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10991850" cy="2307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78BF340-8D10-4572-AE6F-53330059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80BE46F-E296-4694-9E05-D5873A31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40481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heavy_doc_summarization_1c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8D7E392-17D3-4B7E-AE2C-19B34C6E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40481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C901CD6-34BD-438F-BD2C-F9D1E61E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40481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27ADB69-956A-4193-A97E-25257EE3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40481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41E92A3-B9C6-4990-919C-395F215C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40481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FF15733-54CA-449E-9FF2-A3EBE422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40481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C4EE9F5-CFC0-46EB-8398-4C5996E7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40481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8,192/1,024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5B35414-4C98-4589-96C8-6640318A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40481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32.4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E67CDBE-621D-4D64-9C49-7EFE06A7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40481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1.1s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9B8D364-B053-4877-A88A-72E85070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40481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22.3s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1BD3E0D-5AE7-4D52-9827-AB07CD70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788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7616CEA-064C-4222-84F0-D8189227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42788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single_long_output_1k_in_4k_out_1c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F24811D-3D6D-46B7-B8B0-9DA09F5D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42788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A702681-5A9A-46E6-9270-D2AD5B91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42788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4CE38A3-FC9A-47F2-BC88-9A554535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42788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D51A5E0-70B9-41D3-AEED-6E5366B5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42788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F92EFB8-E06A-44E0-83A0-3BE8263B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42788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00090B1-7801-4227-91F3-BB8A35F0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42788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1,024/4,096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C2D4B85-6846-49CF-A1C1-A9644780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42788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12.1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BDDB8D8-2F7C-49E6-9C00-1277C725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42788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0.6s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FA61BD0-8E77-47D8-8F72-A9C549D9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42788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197s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55ECE928-158E-4D55-811D-DC89E067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61933"/>
            <a:ext cx="10991850" cy="2307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D8E7AE5-8C3D-47A6-A3FF-48E0054F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095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9E2041A-AF53-4ACA-8CFE-FA5BCA87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45095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light_chat_16c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BFFCE45-0B44-4C82-A5C8-29ADCF63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45095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7CCD214-8326-4390-8E0D-BFC81E58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45095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5BD13AF-DC34-46F1-A95E-156AC000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45095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66569CA-B9D2-4820-B755-DCC0C511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45095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c16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7FCBE24-FEE6-44FB-A1D8-DCBDC0E9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45095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CFFCF4A-57BF-4CE4-A63E-F1911399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45095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1,024/1,024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E9533AC-88F0-458E-9A5C-103F67EF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45095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230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B705CCBE-B5B0-4CE6-BD08-08B0377D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45095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5.2s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AB60D74-2F6A-4CD6-AB24-8894A51A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45095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61.9s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0475E8B0-42C7-496F-B692-2081903E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402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8425AD5-73AC-4CE5-BC92-69533980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47402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doc_summarization_16c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036B5EA4-BDC2-4087-8098-8555ECEC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47402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0568A55-744A-432C-8A6B-7DFC4137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47402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90BFF38-1A62-4B7C-88CA-25F5F7E5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47402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BF59EC8-310A-432D-BBB8-A2E4B5F4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47402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c16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2476E778-4468-4D48-BB6B-3ED5FDA5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47402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DF6AA2D-45AB-4B3C-82EC-D18B51F6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47402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4,096/1,024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223C6F1-A392-4E1C-ABD2-C03A194E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47402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165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F76FB53-F22A-4B93-9F3E-613A6AB1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47402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40.8s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4152E5A-465B-4551-B7C8-464C12AE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474027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101s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4FC888A-95CE-4AF2-ACED-714123A0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23367"/>
            <a:ext cx="10991850" cy="2307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169EFB81-01F5-49F7-8BAB-11E742A0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09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ACA64EF-C55D-4A00-BAD1-F05C221C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49709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heavy_doc_summarization_4c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BC10F34-20E7-4FD7-A56A-65D04D56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49709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CA9CC14D-E666-466E-9F80-0D55DB52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49709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1333B5D-0191-4A4E-920F-AA997825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49709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00FBE9F-26EF-4CAE-8626-006098D9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49709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F1AC149-D8B8-4538-AA8A-247CA9E4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49709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2F537FDA-4315-4BCC-9F35-94832E14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49709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8,192/1,024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68A9A4A-BF44-419B-B280-74A72B11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49709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56.0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740FDBB-ACE0-4353-BAC8-91BCD270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49709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10.1s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C3F4B37E-3718-47D4-ADAC-1A3A894D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497099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65.9s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551B2E4-98B7-482F-AFD4-943C294E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17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266CB59-5BA7-4209-95B0-09E0B039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52017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single_long_output_1k_in_4k_out_1c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3F41E5F-99FF-4D29-A674-891DEA6F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52017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D23FF4CD-377B-4664-B194-BCDB198A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52017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787D7192-7458-4916-9216-B1110A85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52017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B81429EA-32A9-4D05-9D39-03344057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52017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D6EA9CC4-BD5F-4745-8FCC-5E3C5F2F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52017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22C32758-9E5F-4044-9A21-AD150936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52017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1,024/4,096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A548B10F-09E4-446E-8F14-CDEEBDE4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52017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15.6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4256898E-2088-4D57-849D-7DF6AF39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52017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1.0s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18C3F62D-CEF3-4C83-838D-AF2B67CC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520170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146s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036CB2A-B3B0-457A-8F7D-10425342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84800"/>
            <a:ext cx="10991850" cy="2307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72E917A-BF1E-4F73-845F-AC41F7B5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24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331BA219-1D7F-41B1-BF33-EA605B11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54324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light_chat_16c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6A5F300-BCDF-40B4-92F1-BC3F4D1D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54324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F2502A10-8C35-4A94-8E28-B1318331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54324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FE3FA7B3-7B32-4D78-B19E-01052C04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54324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B74636E1-C2B8-49FF-AB2A-998C116F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54324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c16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90A14A56-6391-4C31-939D-152ED38E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54324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E010BAA-7743-4CD1-BA9A-1B8E5875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54324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1,024/1,024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A5F6FF29-9368-407C-98C1-5AB380DC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54324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239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6D83DA1C-EBEE-44EB-BEE7-A8EF571F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54324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3.6s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A16EDE67-67FB-4E10-A27B-6A28AAF2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5432425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61.8s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8DC6A4B5-7CA4-4B0D-8579-1D40A054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31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0EA65005-0C58-4584-A706-62E008DB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56631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doc_summarization_16c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DE137B01-2A97-46BF-A174-9EB48B6E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56631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30A6D6F4-0FE5-47FC-97CE-22D5BF6C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56631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E3FC2FC-7081-45CC-A6F6-F0F6110B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56631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F14FECA1-F00D-4B59-A6C2-AA09EA08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56631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c16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CFAC7AA2-F480-42BA-BA2C-7562A181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56631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45A95B79-5AFB-4192-8E0D-49D6121E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56631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4,096/1,024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AE086469-0BDB-4752-AAF3-7396F93C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56631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199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6E8372E0-99B7-40A2-B838-09FD5CAA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56631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15.5s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6AA8C926-39A5-44B3-9683-EFC37F42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5663142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85.0s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52BB4BA8-FAB0-43D1-B510-75EA38EF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46233"/>
            <a:ext cx="10991850" cy="2307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06C1F762-A759-4388-9AB1-C11DB36E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38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5B2A29C9-B3C4-4865-9ED6-A5C3F175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58938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heavy_doc_summarization_4c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B05F9B1B-16A1-41F8-A91B-681FFDEB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58938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7EA4F6FE-C894-415C-A8A0-FC3745AE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58938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BFD3457E-E1C1-4236-B369-9BD48765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58938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C6E4DECD-9168-48FC-AB54-F23A8F37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58938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902A6D45-FB34-470E-BBAE-B1E2D4C8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58938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10E58219-8D9B-450B-A656-DE9FCD0F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58938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8,192/1,024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A33E9804-4582-40AD-A22D-535B1F5A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58938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66.4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6DF7B88A-ECD1-4780-AE4D-EAB80329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58938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8.3s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A2827E77-3E4B-421E-B0C2-D4F89EB3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5893858"/>
            <a:ext cx="923059" cy="211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54.6s</a:t>
            </a:r>
          </a:p>
        </p:txBody>
      </p:sp>
    </p:spTree>
    <p:extLst>
      <p:ext uri="{BB962C8B-B14F-4D97-AF65-F5344CB8AC3E}">
        <p14:creationId xmlns:p14="http://schemas.microsoft.com/office/powerpoint/2010/main" val="2428752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306485-6A5B-4B47-A2D9-9A2400DA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128DE-537B-4E5E-8B0B-B313EBBE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9B34E-639E-4C6C-BDC7-281501B5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HUAWEI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0FE36-4CA5-4347-B0BA-78C263AC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90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Full run matrix 1/4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5E39B-90AA-44ED-818E-F4F471DA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Complete normalized details are also available in outputs/benchmark_report/normalized_benchmark_runs.csv.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39734-B2E2-4161-8BA3-0D92355D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D9BCB-39E6-4512-8BC2-795DF71C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62050"/>
            <a:ext cx="11506200" cy="5067300"/>
          </a:xfrm>
          <a:prstGeom xmlns:a="http://schemas.openxmlformats.org/drawingml/2006/main" prst="roundRect">
            <a:avLst>
              <a:gd name="adj" fmla="val 1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C392A-8677-4D9E-AB51-24CCA28D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Rows 1-18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51A98-033C-4422-AA2C-88C9A5A3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0D2FE-946C-48AC-BFAA-F5B74D5C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4D209-7D75-4ECE-B67A-EBDD5701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A408D-4812-4E6C-A287-E41A2DA0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40706-DAF3-42DC-83F1-08543EF7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70AE9-1046-4EEE-8871-B12ED90B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B3E91-145F-47DE-A938-2F3C0E7F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5B9208-083B-4235-BBD2-6337B4EE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A25BF-B426-45BE-8BBA-161EB926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In/Out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C1923-86A7-456E-870F-58C631DA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Tok/s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9532D-3E58-430B-907E-C720E0F4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BB8F55-DBAA-46B8-B5A6-CD309B79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9F9C38-5079-4E8C-B530-1E20E066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FB58E5-776B-4C38-88E5-CA33F516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R1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553E87-61C1-47F0-8875-41527741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10conc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268DCD-CD04-4EE9-9095-F73C61C8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9E5B2D-39AC-4B0E-8DBF-6CE1DA0B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019746-C392-4DE6-AE9B-98F04C0A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11440C-DFAB-4E92-A418-66706DCA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1CFDB6-00D6-455E-9790-C8DEB36E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1,024/2,173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7E6232-4440-491A-B11C-7EA9B79C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286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9E7BDD-8F69-4B08-9AA4-7ACB5C6E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114s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8EE8D4-AAEE-47E8-AB4E-D0521B72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C7000B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C7000B"/>
                </a:solidFill>
                <a:latin typeface="Arial"/>
                <a:ea typeface="Arial"/>
                <a:cs typeface="Arial"/>
              </a:rPr>
              <a:t>2.0%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AA1F4F-5B77-4E2C-89D5-2B6FAFA5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23017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E2C928-CE03-478C-9E25-7A60EA6D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D80121-2AF9-4211-9BD2-7DC19566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R1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591705-5947-4593-8EE9-3503D163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daily_chat_1kinput_512output_500_req_32conc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E21051-E51D-43BD-9F4B-A03FE8EE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1D6645-7269-4CC3-8648-61D451AE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439081-0774-45CA-ACC8-7A3A249F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c32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0BD83C-B183-457F-A20A-74EFF76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B55588-AC50-4980-9667-2A8D0515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1,000/512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C20108-1378-4A43-8DE5-C9ED769B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568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568B5B-BBCD-4F43-9D42-6A9E08A3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36.8s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70C08F-A57C-4251-BC97-D160404A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7386E3-D277-412B-BF4E-39ADE9F3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MaaS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9738AD-9049-4B42-ADF8-1193B569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729B29-AECD-4B1C-AB4B-77ABAD37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1024 in / 1024 out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70D27B-5A4E-4803-B77E-C9574BE6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2DDA7E-D8D4-4321-AB72-3DCD05EC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09DD53-28CD-4BBD-A68F-0519D13A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44DC87-75BA-430F-B249-BFC222B0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5E6663-5DC3-4309-99BB-2BEFCD20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1,024/1,024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2891DD-1ACF-40B1-9B37-B5269030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EDFDD4-C239-44A3-8CE7-5F32FA18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0.0s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10EB7E-AB6E-40C9-A5A4-C23B56DF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C7000B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C7000B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53F74E-8C11-418D-AFE5-0D2C04F3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7150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668C6A-8B21-435F-A9EB-EE6923E8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MaaS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CC64B4-5B32-4821-9B95-CC1EB2BF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6AE1587-937E-4569-B13C-FC20DAAE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1024 in / 1024 out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7306F2-8411-44F9-AF3F-1D0CE870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183C18-4251-451C-B2DF-36AD2E5C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96AD00C-3646-486B-806E-6D2041D9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3ADED96-3F10-4C2E-B5C8-0AF3EB09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A2C7B6-4876-4074-86DF-710EFB0F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1,024/1,024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B6352AC-2F3F-4E2A-9FAD-5D3246B5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6.0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D2A91FD-6D17-4EED-9A78-F394BC6B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112s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29F1BD0-7F85-4301-9B09-77BC25EA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C7000B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C7000B"/>
                </a:solidFill>
                <a:latin typeface="Arial"/>
                <a:ea typeface="Arial"/>
                <a:cs typeface="Arial"/>
              </a:rPr>
              <a:t>60.0%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33D5180-A42E-407E-9010-310CEB10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MaaS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DCEACC-CD9D-4904-BE7E-5E436218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F605B64-21D3-408D-A686-27564AE9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1024 in / 1024 out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F07F283-1ED3-4476-B23A-2F88C208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1627C5E-F98B-484C-BDCA-E83AFC62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D505AF2-609A-415B-933B-7B23C473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8AEB8C6-678E-451F-B3BD-7D6B9AE4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F16267C-90E3-4CD6-A6D9-35FDCB0E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1,024/1,024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2AEF60E-031A-4D64-8387-18663DF4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F2470B5-C810-4A0F-9A43-31F0657F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0.0s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6176E69-BF93-4379-984C-CB9E68A8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C7000B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C7000B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C03A392-EBB6-47C0-BFF2-E80595BA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71283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9330D1A-B947-40EA-A1B5-312C5624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MaaS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6FA091B-3F48-42B9-8A18-3C6B0E38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2B949F8-E3A1-413E-AF10-AB9D178B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1024 in / 2048 out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E51A715-4EC7-4F19-998B-D1756C03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40D5DF5-26A6-43D3-9FBD-5615F998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5A42930-A237-4B74-BCAE-A730B5D1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D90AB28-5865-4C07-B293-7BEE5BBE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89AC542-B23D-4B42-BBF6-6B9AAB07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1,024/2,048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4936883-80CC-40DB-BB14-A5BB806A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21EED01-E604-491B-8DA5-D8FFCF2B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0.0s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11A3DFC-C279-4B5F-8D05-622D1EF0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C7000B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C7000B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BCA9232-726F-45D2-8E5C-E1D32DB3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MaaS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1AE9798-97C2-4F03-A455-25F23147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FCDEFBF-D415-4787-BFD1-FF85F511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1024 in / 2048 out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6D6AFFD-A6FA-4DF0-B182-F24DD302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3C708AB-7D47-488A-8455-3A36F3F3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E103DBB-5A88-42BE-A68F-09B79CA1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8E55135-12E2-4612-887D-E3AC671E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147E05D-A5C3-4C0C-9C72-A217B064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1,024/2,048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5F22723-68B7-48C5-B034-56AF5BAD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0049573-1535-4793-9798-64F565B2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0.0s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DF4668C-35A7-449F-94FA-B1AA33B1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C7000B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C7000B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A6D5534-879C-4A58-89E4-76473471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5417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DA74DBC-849D-4DF0-8035-AB6D1C2D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MaaS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9C07660-5E41-4256-966A-202210C6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4CA6255-EE61-4A87-AC8F-C73592C5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1024 in / 2048 out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68B76A6-95C4-4B97-AA90-3FC18B6E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25AF3AF-34E1-4C52-8B3C-B7283151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225F9BC-3E70-44B8-A514-4B339AF2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6F4B30F-9A3A-429E-857E-870317C7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A2B5F68-598C-4902-8980-F2EF7378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1,024/2,048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B6199AC-99A9-42E5-B6D5-B47FC890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30.5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A6483F6-2EFA-41F1-9799-4C032A73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82.2s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32B6DA3-F839-4E31-BC58-D3CCDDD8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C7000B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C7000B"/>
                </a:solidFill>
                <a:latin typeface="Arial"/>
                <a:ea typeface="Arial"/>
                <a:cs typeface="Arial"/>
              </a:rPr>
              <a:t>20.0%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A48D89E-4330-4BAB-9E7B-7877101A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MaaS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83BC2EC-2B2B-4B38-BEF1-0844B5A2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53235AA-EBE2-4F0E-9091-572AEB98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1024 in / 2048 out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6CA32AE-A705-4FE8-9715-0ED20E2B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87F0E19-F678-4A2F-BA0D-21850CF0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AE02934-4D0E-4EAB-B22E-4C62FDFE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c10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4F039B9-2694-41A1-A419-BB45CE8D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6D4602C-02D1-4032-80ED-2694753A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1,024/2,048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2F7A3B2-D7D1-4870-BEC4-252ECAF9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9FAAAFC-1898-444A-A497-56C1E540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0.0s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66BC1E4-1AAA-442A-B918-8BCC756A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C7000B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C7000B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105DAAF-F23E-4343-95C2-09981747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85F0AD0-AEE6-4A86-9907-BBE34425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C05057C-1C61-4DA5-8455-A7A6C834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E80C5CC-7097-4F5A-99D6-4EE426C2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code_generation_1c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396FC5D-FF87-413C-8011-62EFD89E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FFACF35-7657-4210-8C0D-161DD2F5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B904609-1E78-458F-B321-FB8EFD36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0574184-8F4D-4B1C-BEB8-F34AAA11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E01A87C-ACF7-4564-963A-5F19A248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2,048/4,096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9079EBD-F4F4-41F0-B748-A94589CA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29.5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4FE5603-5B6A-4A53-977F-1A1A4B4B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107s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E8F7596-C0A3-400E-8DE5-E23E1CC6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F57453B-3759-4A2E-A71D-03F35388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0A68409-892C-4067-9F85-4CCA0FBB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EA7B536-6E1B-4608-A348-1F63B4D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code_generation_4c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6664422-CAAA-4BB8-B8EA-DAD2F9E5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E7E2FD9-A875-47B9-AABC-5542A38A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819E0B2-DDCB-4B2C-888C-CD82E4A6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3485069-DC79-490B-BFDF-976BE0B3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DC9E6A8-3E5F-4FFA-9606-D04B4736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2,048/4,096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476D453-52EB-40D5-9BA7-034F0ACD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76.4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8D01DC2-AB44-4A04-9A73-25FB6212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110s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22694B5D-51D1-4768-860B-5FB79EDD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C495798-B1AB-416D-BBF8-727071F3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3683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D65A040-783C-4CEF-85BE-F6D6DEF8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3E27886-B48D-473C-93BB-CD1FE715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79B05FB-A229-4141-B1D0-EA1B8FA0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doc_summarization_1c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6DD5033-6BC1-4C16-AD49-B55EED2E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B6C6B6D-5299-476B-8086-43809228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E230131-E468-4940-B4CA-6991D7BD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12A4BE3-FF39-4C24-8455-38759285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8F8E2D63-708A-4E11-A19A-A539890F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4,096/1,024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D876991-563D-45D7-873E-0AC2F66F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33.3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B0C9987B-5A8B-4CC8-A552-C924FE7F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17.6s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3D34E20-0A14-418F-BCEC-205E2C35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7AE468C-B079-46FA-88C4-6F9C7EF2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9013A4A-4A36-43A2-A828-C185B1CC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B81BDBF-F6BF-484A-945C-DCBCFADF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doc_summarization_4c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C1247587-7701-41C4-87AC-D37B5205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FEEAF7E-ACB5-4078-80BC-0C1CE1C6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072A1CA-4CBD-427E-83E3-ECEB0429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3974361-5855-446D-9A09-B2F798E0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2F543E16-73F1-49C0-AD90-F079658D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4,096/1,024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D2991B5-2FF0-42C0-B494-95C7FED8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85.0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7FD59AC-23B1-4E6C-9008-500A4DF3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25.7s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31BA6470-4CED-4332-9D66-FD23E8C8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93BFD91-0CDF-4D8C-979D-0340503F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67817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A1990C85-6A5B-495D-BF4A-15C8B495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214F8EC-D5B1-48B7-BEC4-835C3166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369590E5-3291-40F6-9D85-97E5D7A9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heavy_doc_summarization_1c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FA7E6BF-8726-4A9C-ACFD-ED92C0DD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C435A73-F7BE-48ED-8FF3-00436DF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2A171AD-27BD-44C8-9989-E6D8F4CC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8EE231BF-E59E-4915-82CA-E6BCDCA5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4889B64-9EC0-4579-ACFB-6A6D14F7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8,192/1,024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739395DB-9B04-4D1A-B55A-298BD761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32.4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98A8C684-67D3-436C-85A6-21004CB8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22.3s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D87DDAB5-872A-4D66-8C49-95893C64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7956345-F192-43EC-8E77-6574E061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914EB7CF-589A-4DD2-A24E-C7B460F4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12DD24A-9DD8-4FBF-8DBA-9D1228E9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heavy_doc_summarization_4c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86BB27A5-1015-4475-AC7D-B30D58DB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0C2FF493-9C7C-45F8-B986-A5D8C14F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B011DFB2-47DA-4DDD-B118-A424EE6E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FA037641-560D-4432-BFCB-48A30B64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70ACC90-D0BF-4BF6-B59A-D41FDEEB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8,192/1,024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A3214378-C7C0-44AA-A868-39D67C85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72.8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4D0DF0A6-5BAD-4962-9E53-821AD06B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38.1s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CDAD407-F6BE-434B-90EE-D87E6A75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E3AC388-D67C-4E38-9064-648E3703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1950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0A52E67-8F38-494B-B92A-B8B053E0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35482195-9196-4117-810E-ED47F20C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BF8892F-4CFC-474D-82D1-0402A7E5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heavy_doc_summarization_8c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B03441B-181C-420A-B7D3-84B950CB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AC67C8D0-455D-46D4-9D8F-C12E4F4A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ED52922-4805-4AEF-8091-ACECE47A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5D482E31-7263-4A08-A88D-66616A1E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FF0DDE06-002B-4603-BCBB-EEDB074D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8,192/1,024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547EF95-CF3D-4614-959D-87578122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127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69E27EBF-E9C5-4C50-8980-35E47F2C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58.1s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FA86DAFA-073F-420B-9A45-CEA3788C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077FBF7D-D00B-43D1-8D41-03AAFFE3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E6C33F13-07A7-43B7-92CF-D7094525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023B0BEC-EC80-4A3B-8981-5B7EC07C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light_chat_16c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DEFD64A7-233A-44A5-94C6-AACABCE0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07E03BFF-68EE-4ECE-B842-3C1855F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2C17DEC5-3875-4B29-8639-C0A8BA2A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c16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7AECD1E0-3182-4546-BD04-A3158564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BFD9496-2071-47FC-A13B-AA002BA3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1,024/1,024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34F42824-B137-4A51-8D41-223B254F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237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BC343A26-2433-4B0B-B95D-70417DEF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63.9s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04AD9C9A-E1C0-4165-BA3A-BF0A0BE0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6C8BDFC1-ECFF-4268-8979-559646D4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16083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68918B62-5432-4C61-8FD7-1ABCF6A1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89E31109-E5DC-4520-A6E0-3615A24A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D7A7E252-2964-4F30-A21D-5D1C6E63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light_chat_1c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A29CA4FA-0B72-4DF6-849D-7220904D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0D73316E-46F8-40AC-B7A4-AF586919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DD0B71B5-D178-43A3-82FF-10C3DB54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756473C6-5751-473D-B117-A66626C3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0B42A99D-72CC-45B9-A86C-883B048D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1,024/1,024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921A2AAE-8AA3-4CB5-9848-6EE8B197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33.8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5E3E857-9716-4CA3-AEBF-5432C1D8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33.1s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75306428-1850-4CD5-A0C7-48866020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</p:spTree>
    <p:extLst>
      <p:ext uri="{BB962C8B-B14F-4D97-AF65-F5344CB8AC3E}">
        <p14:creationId xmlns:p14="http://schemas.microsoft.com/office/powerpoint/2010/main" val="7644094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00EA21-E8B9-4FB3-8E41-28521D6A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C6257-22E1-4C08-A023-440D944B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1F266-364C-40B4-8BF6-A46ED56C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HUAWEI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C71AF-5879-4601-827F-77B82B2B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90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Full run matrix 2/4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D79DC-C8D4-4F6A-9F58-2795B1BB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Complete normalized details are also available in outputs/benchmark_report/normalized_benchmark_runs.csv.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876A9-10B1-4D09-90E0-ECB6B70A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AFCF1-EC04-4902-8920-673B39D2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62050"/>
            <a:ext cx="11506200" cy="5067300"/>
          </a:xfrm>
          <a:prstGeom xmlns:a="http://schemas.openxmlformats.org/drawingml/2006/main" prst="roundRect">
            <a:avLst>
              <a:gd name="adj" fmla="val 1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48D22-60D5-4FD2-B7BC-EF17DE4B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Rows 19-36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EBF38-B201-46CB-BC99-8C2A89C7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114B7-4412-4AA4-9D78-4B824882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05D28-F0A4-4516-B20F-F9041DF5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A7754-E943-431C-90F4-21530B92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E5B0A-BDA3-4EB1-9A2E-74DD44A2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EFADC-BC99-4BAA-97DC-62099235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5C6D0-F248-48C4-91A6-90455D9F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5AC36-6A01-4BEF-AB44-355419E3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C8CBF-F068-42AD-96C5-5D75B792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In/Out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95F93-F65D-4CA6-BA0D-35F2CD06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Tok/s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424F51-0BD8-4039-9419-64CAA59B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4B86E-0F89-462B-9ED7-E42FA8E8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9DC2DE-3E63-4883-BBBB-6E5CF42F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A7CF61-1C56-4D69-AD0D-F7FFD035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 V4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2B03CB-EB9D-4DD7-9B5E-C52B958F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light_chat_8c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DBA884-BAA0-4F2C-A9E0-C6393EA0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FAE25C-ECCF-4EFD-B72A-DB8462CF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AD8DE0-83D1-4046-9E68-2EA78FDC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E93EC8-AADE-4E2F-8F62-9B2C1ACB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18835A-1B7E-451D-8C11-5DBBA877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1,024/1,024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57E4D4-6129-4772-A7F5-316FFBEE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134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E7897C-5FEA-4CB7-8AAF-D6F125A5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65.8s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0803D8-0F09-4E03-8591-B44E3B2C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0F4CCB-1C3E-4D78-B24B-D9B9EE01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23017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6FDE35-249D-4F21-9D7A-C0B05296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E22963-1956-4DB4-91FD-C9F0E9CD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DeepSeek-V3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33DAA4-5CF8-46C2-804E-2D72C1B5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256 in / 256 out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0F3AE2-F6BF-457F-84A8-2E6BF96B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CF5DF8-E419-4B91-B397-CB031F55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F9FF03-13FA-45CF-A4F6-E58F0498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A9CD5C-A73E-442D-84A2-C36D6F0A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0AE4EB-8C6F-4B83-B29A-8A88A5F1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256/256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9C16EB-0323-417C-8296-EBDC3A27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89.2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6F91AD-1C60-427F-8AA0-0262CE23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10.6s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9A649A-F5EB-42C5-973A-4B7FCBB0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8D9E47-2944-4583-9B05-3C97B4FE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MaaS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EA7A2F-9781-4E2C-8F2E-06E6334E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deepseek-v3.2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845549-4447-46EF-8C64-67A687EB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256 in / 256 out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871419-E9D3-4607-8B81-5A115B4B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8301D6-DFA6-4C14-9438-71FC1AF4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E653D3-F444-438B-B401-33783989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093AFE-203F-4985-8ED9-3F21BCB8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8B29AB0-354A-4189-BFC1-43692ADF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256/256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D188F9-40CF-43E4-BDF8-C1504940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71.4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6FB7D2B-2F69-447A-87B2-8319621D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14.6s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B22EC6-D76E-45F1-82F5-8ADE813B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6B041D-92D2-427F-B332-AD2228EE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7150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23CF5B0-D065-4D0B-8372-A5EE5D59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7FF03B2-0E9B-4EB7-B563-F5072038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85E963-E79C-4912-8FD5-9F645834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doc_summarization_16c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E12B46A-9633-4445-AC95-08F015DF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18ADBAB-E420-4E38-9D5D-C6C41329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B1688F-E2ED-4F20-85C3-2D428957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F0726E-E57A-4E2C-B18A-2B08061A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0E31065-E88E-49D0-A49A-3A694C25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4,096/1,024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0A3B483-4FCD-47C3-9AB3-49BA3F6D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165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1F2DF55-7F35-4911-B90B-E8A2C274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101s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2AD32FD-A9D9-45B4-8DC4-62F497DB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2A2566D-3F23-4593-8796-5101C86D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E860EED-6773-458C-87E3-733F1EFC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8B85CA7-F74C-4549-9D77-CBA9F0CD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doc_summarization_16c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D5C7860-3DEA-441E-8EFE-E1F15E70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FAE4E55-9A45-496A-8F7E-673E29A4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E4EE640-2648-4305-B217-E22373EF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c16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A18A2CF-E75B-4C1E-B6C7-B93050B5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7AD8B12-2342-47BE-BFDE-062E3B13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4,096/1,024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A45E37B-036E-4955-9717-E11E662D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199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B164169-9B89-45F5-A342-FD84C0C7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85.0s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5DD11F0-EB96-41F8-9F5D-DA3DFE78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ADBC67B-D38E-4CAF-A2CC-1F988A28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71283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DBB50E9-74DD-41B9-A7AD-25C98A3E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08BC3E1-86A1-4268-9C7F-EE67609E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6BF6436-3AC1-4BBE-A354-56282E36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doc_summarization_8c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BDA05AD-46DE-4DCD-AFBB-5138ADE4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87E4D65-512F-4EB4-8292-50686429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766BD9A-5F5F-4E9E-90E0-F61FEC79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747338B-15EB-4889-992F-231B6478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D33F11D-07F9-4250-A495-81B2A611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4,096/1,024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EC32502-C60C-444C-A4FA-581D453C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108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5D4BDCC-6F29-44BA-8171-307E37DA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65.0s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F0B2A94-C4F5-4664-B46D-EF5DE5D1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6BFCEAB-6E9B-4EED-8C69-57E8614A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FEDD6E3-1B42-4B1A-ACB9-5C84F072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2D6AC18-2EAA-46CC-B415-B027F619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doc_summarization_8c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8A6396C-8D46-4BD6-A57E-DF6F42B8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0732E10-B008-4E52-9696-CB405D8E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33FB4F5-0C3C-4F40-B7D4-C2117C65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12D6C6C-964E-4830-B2AB-5CFB4D02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3E250D1-2348-4449-9FED-C9C41FDB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4,096/1,024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83F548A-B6BB-4F54-8717-755E400D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116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E879450-B7CD-4524-A240-3137FC7A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61.1s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4FDC3F1-B1F0-4495-97E3-9478EB02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C442E66-D01C-4D5D-91F4-81F359AA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5417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A4857A7-B90B-421B-AC46-13B521C5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10B447C-DFAB-4901-864D-54653720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9FDA854-B55B-43E8-AE02-1E97A965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heavy_doc_summarization_4c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CF4BDDD-8AAE-4B60-8769-C1E2A037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AB9B238-D9D8-49B1-98C8-91114FED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B358F35-047E-40D0-9910-2C3B6675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29CA880-7344-4CEC-8C61-07777834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AB7349D-B509-40D2-A5AA-CBA777BE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8,192/1,024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65479BB-38D9-43CE-BD5E-E99EB17C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56.0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115F545-0CC9-4E4D-B5F9-F857AA22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65.9s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0BF40EF-2668-45DF-95E8-4108380F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54BE01A-1BCA-411D-8ACD-024A08E3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D21606D-7BE0-4915-9278-6805AF08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502CAF6-9E73-4961-8253-FFED08CA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heavy_doc_summarization_4c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1C71D09-FB39-43BE-B14A-169B9CB8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460473D-175B-4C92-B499-6709B2C3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E213549-E812-400E-9C80-3E537B8F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8489AA2-4654-44A6-BADF-A978CA98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174ECCF-AA60-4D3D-8EAA-360016E3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8,192/1,024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AC87A65-34CF-4F4B-9071-8ACF1874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66.4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11CEEA9-E46C-4B50-A918-204D9D3C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54.6s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A0B283C-FD36-4E32-8B30-939C44D3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9A66F60-A788-4313-9B27-09404BB5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1F1EA5A-8146-466E-93AB-F0F5585A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F66E0A0-12E3-4570-8A25-6F78B12A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8537FF0-CC53-4F6C-831E-C844918A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light_chat_16c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051D9D5-2944-4C70-A7A8-DDD246E1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760583A-E7E4-4E9F-957D-BE3600AE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D06ECAA-4F58-40F7-8BCF-CFA3E3BF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c16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8A1EB5A-3388-4DF5-B03C-3E6C4EFD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2A883F9-6D84-4779-9DF6-27E5D86F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1,024/1,024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9C18759-8805-49C3-88AC-7DFD3709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230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BB492C4-D395-4FF1-9EA3-6042830D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61.9s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8717051-1C0D-4D61-A875-34264A04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BC2D949-2CF8-4BF9-B945-DC7C00B6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858848C-109D-4BD9-8995-54617C4D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595835D-EF2A-432B-8488-7848A37A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light_chat_16c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B8A5298-9B56-492D-998D-915CA5B3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486141D-C683-4B0F-91B1-E85F833B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25172F4-884D-4ACC-8DF8-84A8034E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c16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F39B778-4FD2-4E8F-9F45-D386107B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E364107-6F28-4C84-B75C-9167729D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1,024/1,024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A9B07CF-D10E-40F2-9D71-815EB7AA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239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B1BE5E9-F5F3-4A56-8B91-0C68B36B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61.8s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A4A288B-F72A-4984-8845-47D4EA9C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D6E234A-3D58-4E5E-9A0F-4772A183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3683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7F175A9-BA69-41EB-B7A9-95E66FC8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9BF554E-B8D1-41AA-B105-2CC86316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C5920A3-F370-4DB0-AE15-103EC5D7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light_chat_8c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EB84548-6A9D-44C3-AF27-4A5033AE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6AFA591-D9A4-4374-BE4B-6E1FF742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EF3447E-58C8-4B90-A66A-670A2170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361EC44-34AA-4A29-8B10-F85AF959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00A8BF6-18C4-43C4-B2B1-C49C9EEF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1,024/1,024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DA80DD3E-6F06-40BE-9F43-8A06E31E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111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E6ADD34-F253-487A-B8CB-AF038C84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58.8s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7787A7E-7DB9-472B-AF6F-45EC0567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10D27756-3C83-4AEF-9223-6CCF5B82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40738CD-E33B-4942-ADCE-289A2E9B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C22807E-811B-4D20-A276-63B26CE6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light_chat_8c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7C338A5-AA94-45DB-9D81-F143459E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F44320E-62CD-42A2-AABA-F65CDA45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D4464EA-7FF8-4B03-920D-CFEEF6BA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C4E650C5-BCED-4334-9EF2-4D039C82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1141094-A26E-42F1-8440-6F319B78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1,024/1,024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1C24921-8DF7-4B42-8E23-381155F2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138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8CB55D1-5374-42A9-AA7C-6536F78B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51.4s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8378432-CB65-4951-A904-B0414E73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5EE0B25-91D4-48F9-A510-5EB562EF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67817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EE39762-28A5-4586-B44D-3BFA81B9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EA513EC9-5386-4814-A281-2ECFA068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98B95A0-5588-45D4-BC03-94A7725E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light_chat_8c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8DB40800-6C49-4573-91BD-87C21DB1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4B90A29F-FFE8-4B8E-A2B3-08C769D3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B70218E-2BBF-40F8-94D0-7C1CC9FB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9FE0460-4D1C-468C-9D01-9C904A55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C0FE72EB-8CEA-4CF2-920A-B5015254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1,000/1,188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855C044C-FB5E-48E3-AC73-C04D384B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33.1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B2DEB0C-74DA-4BC3-BF42-509476DE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288s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A5B94632-6806-4215-8695-1731CC93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9CAB95B0-50B1-4CCB-A5F1-0841D932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A4EA50D1-CE1B-4956-BCF7-39174C5B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02774F4-CC7E-44DD-812A-D1742363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single_code_generation_4k_1k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304793DD-B3C1-4932-B317-202D03D7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220D7F9-570C-459F-BA5C-AE389D1B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97726CF4-1F3C-44DE-9D23-96A72A24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96362D10-FB94-41A7-B1CD-44EEFC3B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9E882053-74B3-42F5-A4A3-B549A9A4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4,000/1,000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217CA77A-A265-4FD1-904B-45E879DF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30.7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9E7D272-55A7-4326-822A-91BA6CD4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38.8s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F41A9CB4-2548-4122-9486-C99FF704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86AF3440-BB25-4B58-99AD-83129011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1950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CE1DE11D-71CF-4ECB-A6F6-322168CB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618E9E80-7ACC-4291-96AD-31B8D1E4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95AD8B80-947E-4E07-9864-DA89BAE0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single_code_generation_4k_in_1k_out_1c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2BADDB6-C37A-4A2B-BDE3-DAF9057C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1C11DDE3-23E0-4CFB-BD66-51C85AA4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178DC32-E2D2-4F1D-9878-F77BA9B3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CB4B09D-98A5-42E0-B3F6-74923D59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6260106B-5282-4AB4-9BB5-8C5FFE3C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4,096/1,024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C3C1EE51-ECB4-4B67-8656-2EC77B4B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12.2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58088616-73E1-4618-8722-13B57F4D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52.0s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F9A4FC38-4652-4020-9AD8-3E63653B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063A9DCE-1785-4657-A246-9FA97812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BCBAE9F9-E490-4F7A-AD9A-7676C986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4090AFF-CDA0-485F-BA05-DBD0458E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single_code_generation_4k_in_1k_out_1c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11D16343-B807-4920-93A0-E2B69E79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1D5A187F-BA29-4798-A52F-62068BCA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A7EF40DE-BA1B-42DC-8147-016B59F6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772B4584-D079-40A7-8232-B76F417A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225391B2-D398-46D3-A447-D8C5BCF7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4,096/1,024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855A2BCA-3123-439C-8ADD-40B042CC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16.5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4931B134-BB57-4FD6-BF2A-5FD5DE91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39.8s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F2AADE06-5919-48B8-9FE1-E7FCDD01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F0694AF4-9CFB-4899-B21D-9D70CA8E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16083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8A252A8-6662-4544-9C2D-0FD218F1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FB750046-93C1-474C-B0B1-ACFB8AC4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E6ED9DEE-B0BD-4AC5-AF3B-71DA0422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single_code_generation_4k_in_1k_out_1c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EA1BBCF7-9845-4933-AA70-D8D1DF22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809AAF45-7C26-431F-8D51-4B487922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1A18D6D7-B672-455A-BAEE-20A61887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79D8B58B-27DA-4496-86FA-AFB4E7D1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F728DF4F-5EE1-4A1F-9D4E-D2113A1D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4,000/1,000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F18331AA-8F54-478A-ADC4-17B9F824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30.7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2F5E2E04-7812-493C-A833-06735439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38.8s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61DBE8A1-44F7-453B-AB16-9715FA20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</p:spTree>
    <p:extLst>
      <p:ext uri="{BB962C8B-B14F-4D97-AF65-F5344CB8AC3E}">
        <p14:creationId xmlns:p14="http://schemas.microsoft.com/office/powerpoint/2010/main" val="4766867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FA5136-C9AB-4742-932D-9ED99A44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0FE6B-E449-4FBF-AD4D-54115792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D46EA-CF4D-4C42-AAFD-E4E4C5E6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HUAWEI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9C0E3-D8EE-435E-84B3-FCECF764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90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Full run matrix 3/4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AE734-C927-4D27-86A4-1CC0C371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Complete normalized details are also available in outputs/benchmark_report/normalized_benchmark_runs.csv.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954DD-589B-4713-A208-47075163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85461-5485-43F8-A8AD-0308B95E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62050"/>
            <a:ext cx="11506200" cy="5067300"/>
          </a:xfrm>
          <a:prstGeom xmlns:a="http://schemas.openxmlformats.org/drawingml/2006/main" prst="roundRect">
            <a:avLst>
              <a:gd name="adj" fmla="val 1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9C4F8-3F1A-4E4E-922C-1E88B345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Rows 37-54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B4883-2FC4-4925-A087-3DF4A8E3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C190E-E9BC-42CA-B083-E8305733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8DCC2-81A1-4C2B-8BC9-554C118B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006FA-CA7B-483E-B612-3C1B4027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3715BB-112D-47DD-9FE8-AC9C940D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6CE43-4CD5-4B7E-944B-DB774FB9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98261-7E83-4AE9-BF0F-D2F17FB2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87AD09-8DA6-4451-8CE4-984B276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4540EE-E5C4-4181-970A-0C7BC10D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In/Out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E65A4F-84CF-476B-907D-54CFBEB6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Tok/s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140E7-F3BC-4EAE-853C-70921AD8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2C8CAF-038B-4BF0-9048-5D78DB60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01055F-4192-4F93-9EF3-CF423E6D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F7F67-EEDB-4593-9A76-17657FCB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563679-D62A-49B0-BEC4-9B615DF6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single_doc_summarization_4k_1k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30EE81-7482-4634-800B-16C6B971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318917-AD15-4D78-B4C3-C7C85033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9FD9A3-5B19-49A1-8DCE-84AB1833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CB420C-8B08-4FE9-A66C-48D1610F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D544D7-FE55-41F3-9202-A2F4163D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4,000/1,000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FF623C-5726-435F-9578-7C2A81B5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31.9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EABD8E-ABC5-4BDF-822A-80A88CBD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38.7s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CAB93C-0F23-4294-9BAA-0E0058EE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E33D16-FA75-4E00-8B8A-BB3129DA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23017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ACC98E-9A82-48D2-BE08-F3FC9CE2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9FD754-5326-4015-A6F3-DDA5D101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091146-3D27-4C7F-8EB4-C8BC1576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single_doc_summarization_4k_in_1k_out_1c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7BBABD-A1BF-406F-9AC7-BFA5B69D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66D822-6CDD-47AA-BDED-0E311645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C0BEAA-6A0A-4628-81B2-521C5CF7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1AB587-EC02-4525-952F-CB26095C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914EC0-36C8-4427-894D-7954C60F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4,000/1,000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E41D12-41FB-4D73-B1CD-BA192AE4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31.9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02E114-9D3A-40D0-94DA-EF8133E3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38.7s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8F9ECD-CBF3-4A18-9710-223E9B7D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936E20-D85D-405A-BCA9-9EB62AEB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031A2C-7D56-4808-A7EB-7BFE3C3B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ECDCDC-8E47-4E50-B1D9-C07BEF6E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single_heavy_doc_summarization_8k_1k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1EBC7F-7583-44DF-ACE4-7B0CB197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FE432E-C506-4B8B-B471-5FA1017A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FDE15C-3FE5-42B8-B4C7-82BE0508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FDD0E6-46EA-4F61-BE6E-729ADBBE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266BB2-117C-4B71-90DE-30E21EDF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8,000/1,000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43D965-74D0-48A5-86C3-DF25F3FF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29.6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D86E0A5-D442-4F1E-99F2-B41700EE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39.9s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4BAC6F-32B0-4496-9753-57EAA019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E6D2C5C-2694-4296-A1FC-5AFF9FC3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7150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4AF87DF-8A65-47EE-AD65-99E9204D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4DE548E-F6BF-493A-928A-7D4769DC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5BF62A-0651-4A90-B362-15F5C50F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single_heavy_doc_summarization_8k_in_1k_out_1c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819B450-C987-4F0F-A09D-2C628AC3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E130091-3B75-42CA-8BE4-EBB35166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38F1A47-CD24-4CC2-9D92-146B33F6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70127AD-F7B3-4428-8811-CDA61571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62E2129-E85E-41C7-8743-2EFF141B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8,000/1,000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4679AFB-3DE7-4706-8F19-A9352BF7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29.6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06CBA64-8394-4F83-A4DD-35D37166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39.9s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968A498-AD37-413C-881A-B144024E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F2B3F8C-4FE5-4F43-856E-34A5CD21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81A0A93-7AF8-4643-9846-8D13A3E7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1067532-11FB-475E-B126-192FF9F3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single_light_chat_1k_1k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0132FD9-B6EE-419D-A247-9C7973E1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25FE077-5F78-4A38-937E-FCDD8115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EE4BE9B-7E64-41E4-B1E6-2768B0C1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4F00C79-AC61-4345-8C53-E3DAD97D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E0E00BC-85A7-4967-B23B-EC03949A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1,000/1,000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AAFC02A-8B19-4971-A8C8-313CDB22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32.0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38D8D58-E24D-4CF8-914D-328AACA8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36.1s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A385FBD-28A1-47BD-871F-A798BD79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A1640E2-C52D-4D8F-BEA0-BA04D4D9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71283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A6E8D5C-8C9B-4561-8E39-DD6AB596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DFBE343-6A5A-4444-9701-D27881A0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FCA5AFC-EE1C-4C85-9CD2-997BD689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single_light_chat_1k_in_1k_out_1c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1D0B6D5-AA91-492D-93A8-95EB613C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9CB20FD-41E5-45F8-807C-E6892A0F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2565CEC-C93D-4526-A63F-04A46443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78602D8-A3E5-4B2F-A6BD-8E962F56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1FB12B6-61C5-4A30-AF24-2663C35D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1,024/1,024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C9D9A64-6374-4D0E-BBEB-2D3FB839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11.0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977BE82-1DC7-44C2-8433-C268C16A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49.2s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1BD60A9-07CF-495A-B80A-CA469567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E8CC96A-B6F5-4A13-86FA-2D7EF1D2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DAB15E1-62C4-48A0-9AF6-639CF838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96BAD6B-B67D-48C1-9EF3-E18EC1A9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single_light_chat_1k_in_1k_out_1c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D3381B4-A3B4-46ED-83D0-9907BCBA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91D2576-4971-43FD-B872-5AE444B1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5B805B2-9DC0-4ACD-B6A1-93A34E65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C0F50DF-AF40-42AE-8673-BD5C2D3A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F2F747A-9D8C-4D61-9968-169F4557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1,024/1,024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2993AF4-DC60-4CF7-AF84-760E9264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14.4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48FA4D0-2480-4BB7-B465-F2816952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39.2s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3B09406-E420-4B5C-9E7A-A5A590E4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4758F4C-BD5C-44B3-9F8F-47026D7A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5417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16932BE-D4B1-4286-9F01-46EB3E5D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90C6278-3246-4971-98FD-2D66913B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8DF580C-635C-4175-907B-3210BBEC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single_light_chat_1k_in_1k_out_1c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22A5AEC-82DE-4580-87E1-86B00304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35D0CB5-CE88-4B0E-B455-5D39B5AC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47A02A5-A16D-4C43-95F8-3C1B1B77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9B1FD76-1675-4708-B5D1-0BC88BA2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574DCF4-B567-443B-AA8D-F6AFF12B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1,024/1,024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484AB22-C38D-4B92-BBD5-3B27FF58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13.5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2AAFB31-7F39-47DF-8BD7-086D836C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36.9s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A685FFB-869E-4002-BEC7-5F9F2C6F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00D7C2B-B75E-4746-9548-783C58BE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77745D1-69B2-411A-BD59-E61055B6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2264E02-07E2-4F29-B93C-B2C4ABED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single_light_chat_1k_in_1k_out_1c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501C873-728E-4E2B-A409-DB97387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1E06EF2-00B6-4E91-8A66-FB6C18C1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268A399-589B-4BF0-928D-C898C5DE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85E7AA6-5736-41B0-8F78-753BE7C1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79CF82A-F754-4A86-BE73-FBDEA9DD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1,000/1,000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DEDAC34-A338-440E-ACDE-73EC85A8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32.0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2EE8201-594C-46D9-861A-EF933FEF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36.1s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311A1F0-6AA2-4A85-81E1-F697CCE7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C3CF399-489F-499B-B34E-E145D410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EC00D4E-3B56-46DB-94C3-D1374504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564072F-2DB4-4691-93D1-34F23D8D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5FDE10C-378F-43AF-9D5A-3504102C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single_long_output_1k_in_4k_out_1c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0C86D77-4665-4324-80A9-DDD738DA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9C3FC16-4C8A-49CF-A2FD-97083966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1FAEF6B-98E4-4B1A-88A0-04E55FFF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C051A30-D58A-488E-BDDD-C23CB6FD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1459A7C-3291-477D-AE5C-ED13EF4C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1,024/4,096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45CB5F6-B092-42B4-BBCE-8EA61201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12.1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0BA5304-DC7C-4E6F-952D-24489301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197s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37A76E4-9DFA-4BCA-8632-BA08D9B9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96CC409-86AE-4A90-9441-69E0F536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69A8155-BB71-4C2B-8EF2-A0EA6573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22AF457-B7E6-448E-A2A1-3514624E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single_long_output_1k_in_4k_out_1c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F5EA752-864A-4D58-8474-0920B1C6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6065854-9277-4D24-884B-5418A624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F10E9DB-5AED-420F-9EC2-8E6EB6AC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C9B455C-7B0A-4BED-9B17-E544452C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8F267B1-9216-4E68-96CE-D8DEDE78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1,024/4,096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704CC61-258D-4605-9065-167D96B3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15.6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C0E9BBF-0D2E-4256-8533-201FCB41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146s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C383C7B-1729-44A1-9C2C-4E9CD309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6800A2F-828A-4EED-9CFC-EBAED85B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3683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51ECB2C-CB1B-4D5F-999C-EF0F76F8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5B2041D-D273-4356-874A-B8FDD732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GLM 5.1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6E82E83-E18F-4A66-BA81-A29A4537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single_long_output_1k_in_4k_out_1c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1CD8BD3E-578C-45EE-8C78-2B1BEB5C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209ED1E-8C5E-4B78-8D13-64EE0ED6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F0F9388-01CF-4FAD-BBDE-EDB49312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FDF6728-DD81-4B49-B806-B970E075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D31CCBC-CC8F-491B-B173-EDE8C2E1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1,024/4,096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D7F37E31-4CDA-42FE-A8E7-CF23D133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15.9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2CBB5DA-AA7F-4FCB-9F76-9508A56C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152s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87BC2153-38E0-4AE2-A0CC-C493653E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3CAC0E4-CDC6-40D2-BE59-2975BFD6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7E34DE5-1F5E-4CDF-B503-9A3793DD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GPT-OSS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A248FDF-F255-43CE-AA57-772821E0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chat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08B1B47-56EC-4EAC-B08C-8CF44B89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E73DAA6-D61B-48C0-B572-4C564826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37003140-5713-4FFC-A8D2-24A13CE0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c16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1C1E54A-4E03-4981-AC3E-556EA85D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7CE5876-DE53-4182-B9E4-C5B0ADC4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1,024/272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5CC2546-3533-4A33-BA6D-53726BAD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230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0B0264F-ABEE-4B2B-98E8-32C94C24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17.9s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BA6A9DB6-EDBE-4746-B21E-1A4C84D8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9EB654F-F481-41D9-805B-488D7F07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67817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0E6314EA-F8C0-4B51-BFE5-466F37C6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7B188DE3-4CBD-4328-A60D-E950A1C9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GPT-OSS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37D0890A-6A3F-4550-AB9E-2229E5C5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heavy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51C3A0D-147A-44FF-BE61-188FC128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E267FF8-90B7-4821-AA0F-D4AD4365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C1582E2-4D93-4522-A2D5-7459AB37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c64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5970045E-BDA3-498C-939D-782C6AE1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54470849-FBCD-49FE-8D93-C4493FE3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4,096/796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1FB6EC5-779C-40EB-A33E-CE6D13CC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601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15E0C39-9FBC-40CE-B28A-7B60F77A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78.5s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8B6493F-9C4C-406F-A0CA-343CAFB1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2BC2E28C-A5B3-4924-BEB9-D2EE08BF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704C533C-50A1-43BB-9BDC-6BA2FC0F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 3.5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349932D8-B069-4AA3-A637-870FFE13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doc_summarization_16c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DD515DBB-A029-43BE-A115-CC7135AC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EA9453A-ED24-42B1-AEAD-69944639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A1D86349-68C8-4029-ADEC-611D7F42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c16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E0A806CE-C3F5-4E5C-B5D4-5D8F2E5F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BDAD2297-34FE-4459-808B-2C23B0EB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4,000/1,000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22EBAF95-9F2B-4494-8785-0F124DCE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362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37EE9782-3182-44F9-AEA9-2321BFCF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57.5s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A5C2E05-F682-4FE6-B348-99AC209B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391A49C-A80B-40E4-A9B7-E719BF5E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1950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CECDA1DD-21F6-42DC-883C-7C2094DC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02A7E90C-4F57-4915-8540-C5EDF765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 3.5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BDD521AA-80E2-41F7-8DB3-0649693D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doc_summarization_16c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7B6E8EA-7790-4D24-A597-3A7A9CAA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AFCC4A1B-5942-4A29-BBF8-1FDE08BB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80C7372-E58B-41AD-A5A3-7D58B882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c16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9062F65D-5DB3-47E0-9188-DBBC9F8F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8FDC5C93-BBB7-429F-B8B2-707A0366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4,000/1,000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8FFAD0F0-0024-40A5-9C65-B400EBAC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267A0F6B-FB52-4586-A046-6894892C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126s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96974A55-63D7-4F3B-9858-2BE65E23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5A8124A9-2660-4DAD-B232-C1992FBA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797E1747-766B-4B8A-848B-ACF90FEF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 3.5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0AFB0DC4-4DB9-406F-A8DE-F1A861D0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doc_summarization_8c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76F3F1D0-1406-468D-87C4-11BA0586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2DE35459-37B8-45F0-AFD0-30207735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5639A92D-E576-46AF-9F4E-F6F7E4D7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3B195D12-BFB5-4C98-B63D-95DA3389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64993938-E7AB-4747-BC00-9258D999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4,000/1,000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09FC381E-0604-4F60-AAA3-56DF7913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250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D446DEEE-8D2F-4A98-B7B7-F9CE363A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39.0s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F5DA4554-8B0E-4ABF-ADDE-5051D67A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2680B049-10ED-4BC0-AA4C-7E83AADB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16083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9579E47-DD4C-458E-87B8-E8D9B670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4AE258D-FE05-4E28-852C-51AF35FE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 3.5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AAA926B9-48B8-4512-BFD0-93242250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doc_summarization_8c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BCB2A11A-741C-46F1-8A7A-AF802290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63F3E8A2-8454-4D57-A0B8-628B4FD6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B54C8DB3-1E0C-4808-9C7A-6E0C4879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0778970-3817-4F1E-90C2-57846247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C67883D0-8ECB-4217-94E1-95572543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4,000/1,000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70E18AAF-3921-4B3F-80C0-072EEC36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77501707-69FF-4E85-AC55-FF930226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71.4s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3C39E6ED-42D5-45AC-AB60-72514535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</p:spTree>
    <p:extLst>
      <p:ext uri="{BB962C8B-B14F-4D97-AF65-F5344CB8AC3E}">
        <p14:creationId xmlns:p14="http://schemas.microsoft.com/office/powerpoint/2010/main" val="1497470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2B4754-3BE0-49BD-AC8F-F7E83BE8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92A72-B0D4-46CF-BFA7-B30B1BC4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F4B63-99F2-4BE7-BB7E-43A27644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HUAWEI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CA05D-642C-44A2-82F3-D023B136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90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Full run matrix 4/4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9C449-489A-486D-9593-BAE9C6F4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Complete normalized details are also available in outputs/benchmark_report/normalized_benchmark_runs.csv.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AFE15-C2F3-436D-9D90-0DBFAAE9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2ED91-5EBA-4197-9401-6B3896AD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62050"/>
            <a:ext cx="11506200" cy="5067300"/>
          </a:xfrm>
          <a:prstGeom xmlns:a="http://schemas.openxmlformats.org/drawingml/2006/main" prst="roundRect">
            <a:avLst>
              <a:gd name="adj" fmla="val 1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579E1-8CF9-4CA1-A186-745CE365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Rows 55-72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F3132-3489-4D14-883E-AC35D1A1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786F6-AC2E-4B16-9B45-081CCFCE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017D9-E6AA-4F65-BE1D-218B0E92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6B787-A0D9-4991-B3A6-2E9E3D4D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E3B66-EB1C-4C99-91C9-6F21B152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0D7A8-E96A-4A25-8C3E-F34065C6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374B2-C4B0-4EB4-9F67-35A12AE7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C56A98-E568-4B19-91BE-60202D97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8A2596-4766-4ABF-AC43-D9099541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In/Out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2DA1BD-2864-4D17-B769-F0D358D2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Tok/s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E4113C-DB34-4CA0-A464-058490B9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0F3733-E520-4105-9474-89126383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1685925"/>
            <a:ext cx="9386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334548-D1CF-40CB-81C5-95278746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5C3A1D-A8E3-41A7-819A-DDF5DAD5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 3.5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B0C580-705E-4874-816F-7EE4ECCD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heavy_doc_summarization_4c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2B764B-3045-42C5-B644-67CF7B25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5F571A-4028-4AD9-84FF-EDCD87BC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625F83-460B-4F04-9DAC-ED42D76D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D9E115-F4B6-4C75-9320-32CC0954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FD7C28-400A-4FD3-A6A8-5519CF37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8,000/1,000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386CD9-6A70-4C53-AE7A-43840973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9AADDD-CA09-48C2-8291-091E85B2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33.4s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B0A269-229D-410A-AB36-B26A1B64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1933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896BBC-58CF-4030-8848-8FDC58F5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23017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D34B5B-6BA2-4FA0-8C6B-0AFDF8CC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FA13B4-E1FF-4409-A7E2-220E4CDC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 3.5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FD18B9-D092-4FFF-9012-52EE6EF1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heavy_doc_summarization_4c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F81BB6-49A6-4BF4-A23C-824CA345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AB858A-5A36-4904-B35E-E980A388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DFB29D-1ADC-40C0-AA23-524A3437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B5083F-4CE0-499B-97F4-F91A7B3E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ED82A1-D9B8-4407-916B-65B096A5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8,000/1,000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B95384-0A80-4060-9C4A-09B40EF9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22.6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76CD6E-EECA-4E2E-A948-5E43C1B1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221s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37A8B8-EACA-464C-ABBF-45BEB1E2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2170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FEB4E9-7531-4924-9750-A2811CC7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192112-A857-462F-8310-906D1899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 3.5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048AE7-CAF1-4EFF-99B9-73B603C3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light_chat_16c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958765-768C-43C8-842F-D901D389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C6FC7C-25ED-4ED0-BAD3-4CF2F0BD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421B55-5BEA-4E19-8A32-4AA3F426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1117F8-D9A6-40BD-9F33-722D29AF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85BF0A-123E-47E7-AD22-D359A04D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1,000/1,000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52628F-DE42-45FB-92FB-D3E0E29D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461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DDE1CB-304A-4CD8-B3F2-48507C7C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40.9s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630CA69-8B28-469B-BFC6-3CBCD7CA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2407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2F44D0-7C13-40E7-9BD3-8B217E3C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7150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F78B261-B7D1-428D-A1D6-889366EA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62C03C2-5F26-4CCA-88E9-11A2960E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 3.5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B46D9D-8D7D-413A-9DF2-9376C554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light_chat_16c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0C15F0-DC72-4C29-9EBD-39B72C4B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9DA12E8-32AE-4CA3-AB89-170B2F2C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83BF305-81CB-46DD-A7E1-987DAB8B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B0C1CB6-9C13-4D09-AEEC-91306738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733EDA2-7A59-423A-931A-7B027E73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1,000/1,000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B75F8E-C28F-4D24-9401-B39A36E5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147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70BC1B9-5326-4E75-944A-3DD03365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108s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250571D-F4EE-4E3E-8AEE-17FBA27B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26447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C9955F3-8C80-4D84-B5CF-0258A6F9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60DA3A0-1DB3-4B27-9472-2F5D899B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 3.5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BECD14F-E92B-441C-A3A7-A2987A63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light_chat_16c_retry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B8BFB0C-381C-4850-930A-45B190F7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372C4CD-7AD6-496D-8591-74757F1C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49A740F-B82A-4348-91EA-C5E9443A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c16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BA07656-0417-4CEB-8BF7-A3214EBD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A138DCE-E8F8-43D2-AABF-D393ACEB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1,000/976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B558F45-2E7B-4D2F-BB37-EE2D63C4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451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1BAD944-D65F-4EF7-80F3-F195A670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46.2s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C91FD4F-1441-4550-815D-2A78150A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28818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94CE8D4-921B-498D-9B27-3C2E719A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71283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3CB2D76-D43A-40A0-B4FA-768E146C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8C0F434-254F-46DC-80A6-B7A3B492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 3.5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7D02398-D5E2-49BF-A959-B97EEEB7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light_chat_8c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B930B9C-F670-4EE1-BF6F-AB3F87DC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6FA22B3-C96B-48E6-BA7C-D2543F0A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A78DEF4-5561-47F5-B6F2-E5A71279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F34B1E8-FB22-488E-9381-D39D4964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7635C2D-307A-4965-ADA7-D491FD41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1,000/1,000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D302749-A12B-4069-A1F9-0FF16E07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280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9E018E2-4380-4EFE-8757-AEDC79C9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35.0s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32475CB-2C15-4D5E-8155-97ACA682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31189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9710590-97BB-4C7F-A0CE-52FDDF95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111F1D3-980E-4055-9811-C56DB0B1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 3.5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AA0BA8B-5C33-498F-AA75-DFCEEE11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light_chat_8c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6FE883E-2388-4422-994C-DD6F95F6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9C0A924-9F02-4272-A503-75EADDD9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C7CA23C-4CDA-4025-A818-8B3EDBB1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EF485E3-F985-4AEF-8CA8-0D4AF1C3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74E235D-E0C5-4501-B58F-A50A9848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1,000/1,000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0A1CFF8-39D7-4F22-A012-32960AD2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125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DF54DCE-438C-4DCE-B087-95AD2D23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69.2s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8AFC97A-2C60-428E-B003-4B1B610E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33559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DC89E70-F274-4550-A917-D42DD2CE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5417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CB252DE-68B4-4976-8BF2-428FC3E3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B6E9A22-F71E-4FEB-A31C-FA606E0E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 3.5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BE7B9BD-B176-45C5-A22B-C482E50E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modelarts-qwen35-w8a8-quarot-1k-1req-1conc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2731A09-EDB4-471F-BB85-E10361F3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2D4D34A-D377-43E7-9243-728EB145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C9C2907-A69E-4777-869E-627AE09C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6566264-22CD-4590-B452-33CA4E05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D07A856-C287-4681-9338-DBBEA06C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1,024/1,031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EE8F3C9-DFC1-4A09-8ACD-A7EB55CE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55.4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1AB3C61-F7BF-4F8B-85F3-8E88B952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20.1s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BE3E15F-087A-4077-9722-15E73FEE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35930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8783A8D-C80D-406F-AB61-2F1E25AD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0E54933-6672-4048-8244-304BD384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 3.5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79C9410-4FEB-4BF3-A05D-0B04FF84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qwen35-397b-w8a8-tool-calling-1k-1conc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944DA07-B2B3-4AC1-B5F9-ECF9EF5C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BD509B9-5A2C-440C-A398-47B9F8E7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36524FB-5500-4E9C-94F7-C1EC92F3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66F37C6-443D-4D2F-A499-82BF0F6D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D34775B-5D4B-4197-9A46-8F22C0E2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1,024/1,025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CA13916-2973-40CE-9A04-BFBED444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59.7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87F8DF7-012B-4CB1-8E67-C90ED596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19.1s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0B2AD55-0497-4541-BD44-E55D3846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38301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05733CA-4F7A-4856-9332-50AA3DB0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DB22100-6E30-4F9C-BB55-0E64DA1C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A847747-36C7-41A2-9A2B-CDC76AA2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 3.5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EAD906F-0526-4B0D-86EF-7AE0EBBC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single_request_1k_1k_1c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95FB400-D038-4888-9B14-012FD53B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2A70788-C9E1-435F-AB0F-266F2E0E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7730E5A-82B1-4556-92BC-81A4BB4E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CAEA73D-C887-48A6-8ECF-B4428E81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2647BD4-8E6A-4A98-8D80-99892182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1,000/1,000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9EBF808-31AB-4408-9DC2-DEC554EA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52.0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4FB6E08-5287-4494-B882-BC0F620F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18.4s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E12472C-8E57-4B1C-998C-44142622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40671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3F7C559-7FD9-48C0-9ADC-C54E50FC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DB01DAE-F8C1-44BF-8738-94957DD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 3.5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A8E35D0-B810-4334-A810-C566CA81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single_request_1k_4k_1c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623723C-3104-4035-BA5B-438E091A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B0839F1-9862-427E-B0F5-E1C39A29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062CFA7-0A3E-4F79-A99E-1B03FB57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40E6A91-AF3D-443C-B953-F3D8707D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C9FC2B0-BF6D-4AD8-9A67-0C8E1877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1,000/4,000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900FF4E-97C8-4143-9EFD-61708C07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64.0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E294E87-A073-40B1-972B-83F5E5BA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58.8s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72760CF-8851-44ED-A2F7-D164A829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43042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363374F-A5C3-4586-95BA-C92C62CE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3683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2145E22-174F-416F-84E6-C0A340DD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76C2791D-09F2-4BA4-B3F0-3D0A0184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 3.5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869F5D1-1881-4BE1-B9FB-77B33B7A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single_request_1k_in_1k_out_1c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19436DA-1B8D-47C8-A943-E6EA2587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7C79AEF-4E6F-4AA5-BC8B-9135A5AC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78E8584-BC81-4035-8B16-0F1C10DE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28230FA-7FE6-43EA-B245-94D02FD4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9BB69FF-74D9-4AFB-BCE0-54480E05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1,000/1,000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89B89A13-C87F-45CF-BFCE-E8B4005A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56.4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D98D48B-4FA3-4C0C-ABCE-D727C0CE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18.0s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FAB62C7-84C1-40BC-B147-840320B6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45413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D95D3986-1A5E-4354-ABCF-B39D1D9D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941CEAB-C3D7-41F7-9E32-BDD78479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 3.5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22AFE35-24D3-4ABA-BC16-F2DE5FA0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single_request_1k_in_4k_out_1c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D15B1DB-6D27-451B-935D-93F234EE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E7C1462-D08E-4BA7-87B1-E77CD67E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14819741-B7A7-40BE-9C2F-C02CEE5D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CE9FA95-ED6A-400D-9B3E-5331F3FC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D461DCE4-1360-4784-B83D-360A4F95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1,000/4,000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7C7099B6-0AB0-4BBE-A9C4-ECBCD181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59.5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D47DA93-655C-422A-9F6C-12B51BD7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55.7s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CFDF2507-6CD5-4F01-A902-6F489797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47783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972E4FCB-9B48-4171-9A97-FAD6A0D4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67817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54FA01EA-AEC4-4F82-AAD5-00DE0403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MaaS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1F27F351-B391-4B9A-8C1D-F3B0B3E5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qwen3-32b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096D6C19-A59F-40A8-B952-508E787D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256 in / 256 out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295BD5D-D33C-42FE-A927-FBD533A2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10DA1A88-CD1B-4BD4-94C9-3F6794E9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4B0629E-2589-43A2-8002-4705033D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AAF87818-652B-4FA7-8DC4-5A4CEA20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CA200200-60B0-4B1B-A4AF-29904D06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256/256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B5ABD077-CEA7-4B91-AEF5-C34FD3CB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BB4E8E3-96CF-4C60-8530-5A378FF5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11.2s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A2EE558C-4B92-4006-B0DB-91AA1B00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50154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C7000B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C7000B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634EAEFE-1679-463A-BF1B-29B87A9E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E67D646D-4ECF-47A5-8813-0CE5DFB7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Qwen3-VL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BF031109-F79E-4566-AF36-BAC44F3C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heavy_image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3F06FC9-E1EC-4201-8D7B-3696BA35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ADBA3A7-2401-4F3C-84AB-BD3E509A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4750447F-D30F-4553-B24B-5565083D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7B841378-C28E-4660-B03D-66ABFF34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726A702-BCD2-4F90-B1CD-5EE9A848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0/609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6318BC5-13A9-4D82-9C8D-0C791D75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107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69C3B2A1-924D-442C-82E7-8D29C9CE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82.7s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D034182A-662C-4BDF-AB54-CE12794B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52525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6491738-AF03-4DC9-AC59-D0C850F0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1950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29A43D94-B21F-4EFD-BF65-2CA35E57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ED81BB82-A836-4ADF-BF7D-A759D4B1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Qwen3-VL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D1AAC045-F19B-4220-89B3-BE3BA5F4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highconcurrency_text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4492B1EF-CFF2-45BA-AE61-1CB30285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D91C0FB3-47C6-46BA-816C-2C56BA02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96CD78F-6B50-47BE-830E-B9F358B4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c16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4CBAB580-4BF4-4112-9692-5020169A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B77244F-68B5-4921-B725-6F770D06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2,048/628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E838C98A-767D-4969-B8A5-C9C3ED17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700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AA3A560E-D2FE-4E40-A964-EB8ED1EC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13.6s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22995D97-4E1A-4688-90E2-FF63C01C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5489575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F75BDA33-9B7B-4A37-8D16-CF44B618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7CC2C299-5A09-49B5-B5A1-3D77AE5B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TUBITAK GPT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5322A003-952B-4FF9-873C-CAA8C121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tubitak-gpt-100conc-8err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EA587FD2-699F-44AE-A465-B8643A48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3E0382E7-80AC-4837-8FB3-A6A3DB94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53EEF4E1-B193-4356-9113-D268FCCD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c100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3E55116F-125B-4D9D-AA08-90E0F190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500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FC5708B3-21C0-4DA1-8609-DEA3113A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1,024/843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8BFC1C0C-D83D-47B0-A004-1A9F757E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706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4EDA9787-268B-47C0-83D4-A464D98D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119s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7184DAAF-24D3-4D23-9BB9-9FA24F2E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5726642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C7000B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C7000B"/>
                </a:solidFill>
                <a:latin typeface="Arial"/>
                <a:ea typeface="Arial"/>
                <a:cs typeface="Arial"/>
              </a:rPr>
              <a:t>1.6%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10A868A5-191A-4D95-B134-49335944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16083"/>
            <a:ext cx="11163300" cy="237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BE497C4-892A-42DF-88F9-3274207A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ModelArts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1E4E702C-B8F1-42DE-BBB4-962B7E03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45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TUBITAK GPT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4D039AB6-9651-454D-837C-6C1C0C67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91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tubitak-gpt-90conc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53E93213-ADD9-472A-8F4D-E4CCE4EF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36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399685CB-DF62-46C0-8245-D8056930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882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EEC2C928-2471-41BE-AAEF-B3B91F6A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727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c90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F34F4D4-A70F-41F4-90FC-39FE86CC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73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500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C67A8462-C8EB-41ED-A654-B8C8068B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18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1,024/842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D10B482-42B7-4610-91E8-46EC7F5C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64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717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90C9BF60-EF83-476C-A73E-0912A2C6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109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111s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585ED2E3-2156-4893-8F10-FD98BB7C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955" y="5963708"/>
            <a:ext cx="938645" cy="21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5803D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</p:spTree>
    <p:extLst>
      <p:ext uri="{BB962C8B-B14F-4D97-AF65-F5344CB8AC3E}">
        <p14:creationId xmlns:p14="http://schemas.microsoft.com/office/powerpoint/2010/main" val="5490351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AE3363-25DC-48E8-AE05-8CBBB684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97771-AB92-4201-A40A-D5C411FA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89ACE-EAD7-4AD7-B935-882E80EE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BD5E1"/>
                </a:solidFill>
                <a:latin typeface="Arial"/>
                <a:ea typeface="Arial"/>
                <a:cs typeface="Arial"/>
              </a:rPr>
              <a:t>HUAWEI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A56B2-9181-4072-A4DF-5934F3E6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90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Methodology and customer-readiness notes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E770E-08DB-4E68-9DBC-CF184572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How this deck stays sleek without hiding engineering detail.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85001-47A9-4B6E-8878-3DC6B83C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F86FA-DA34-43E1-A2F5-A34C5E2D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716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EE756-382B-4CA1-BABB-BDAEDD54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04950"/>
            <a:ext cx="91249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Main slides show decisions and trade-offs; appendix slides preserve exact DP/TP/concurrency/request/token metrics.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6B063-3FB3-403B-A2DE-C4F23ABD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574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617DB-E4E4-46ED-9EA7-001F45A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90750"/>
            <a:ext cx="91249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Summary JSON/CSV rows take precedence over raw CSV companions when they encode intended token and request configuration.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72C71-5518-4067-9B18-46083781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432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462E4-08E3-4E41-BB95-B349DC58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91249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MaaS topology is not present in source artifacts; DP/TP fields are intentionally n/a rather than inferred.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F321F-9F66-4B5C-A48E-B5D272AB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290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A7A1E-4619-4DDD-B44E-8A96769F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91249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DeepSeek R1 TP16 is annotated as DP1 across two nodes from the supplied deployment note.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B1C1B-EEFB-477D-BAAD-A8CB18B1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61979B-CDD9-40F6-BDF1-031948D3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8150"/>
            <a:ext cx="91249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Recommended customer discussion: pick workload and SLO first, then choose concurrency and DP/TP configuration.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33BA39-7C95-4081-951F-C3A3C28A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191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1E6841-8D2B-400C-9C88-2D243F83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8167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Data source: outputs/benchmark_report/normalized_benchmark_runs.csv</a:t>
            </a:r>
          </a:p>
        </p:txBody>
      </p:sp>
    </p:spTree>
    <p:extLst>
      <p:ext uri="{BB962C8B-B14F-4D97-AF65-F5344CB8AC3E}">
        <p14:creationId xmlns:p14="http://schemas.microsoft.com/office/powerpoint/2010/main" val="5770424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2026-06-17T21:37:51.1800000Z</dcterms:created>
  <dcterms:modified xsi:type="dcterms:W3CDTF">2026-06-17T21:37:51.1800000Z</dcterms:modified>
</coreProperties>
</file>